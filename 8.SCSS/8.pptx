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8F7BA-E9CC-46BF-9E21-533F2786B3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8</a:t>
            </a:r>
            <a:r>
              <a:rPr lang="en-US" dirty="0"/>
              <a:t>.</a:t>
            </a:r>
            <a:r>
              <a:rPr lang="en-US" dirty="0" err="1"/>
              <a:t>NPm</a:t>
            </a:r>
            <a:r>
              <a:rPr lang="en-US" dirty="0"/>
              <a:t>. </a:t>
            </a:r>
            <a:r>
              <a:rPr lang="en-US" dirty="0" err="1"/>
              <a:t>scss</a:t>
            </a:r>
            <a:r>
              <a:rPr lang="en-US" dirty="0"/>
              <a:t>. Bootstrap. tailwind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A3EF1-5B42-4041-B92C-3D01AD2A73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162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/>
              <a:t>NPM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63F4B1-6EB2-4107-97B5-2242A01A5DA6}"/>
              </a:ext>
            </a:extLst>
          </p:cNvPr>
          <p:cNvSpPr txBox="1"/>
          <p:nvPr/>
        </p:nvSpPr>
        <p:spPr>
          <a:xfrm>
            <a:off x="133874" y="734467"/>
            <a:ext cx="11924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</a:rPr>
              <a:t>Библиотеки JavaScript </a:t>
            </a:r>
            <a:r>
              <a:rPr lang="ru-RU" dirty="0"/>
              <a:t>– это коллекции предварительно написанных фрагментов кода, которые веб-разработчики могут повторно использовать для выполнения стандартных функций JavaScript. Код библиотеки JavaScript подключается к остальному коду проекта по мере необходимости.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B3AD65-13D5-4215-88E2-41978F235414}"/>
              </a:ext>
            </a:extLst>
          </p:cNvPr>
          <p:cNvSpPr txBox="1"/>
          <p:nvPr/>
        </p:nvSpPr>
        <p:spPr>
          <a:xfrm>
            <a:off x="133874" y="2551837"/>
            <a:ext cx="11924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NPM (</a:t>
            </a:r>
            <a:r>
              <a:rPr lang="ru-RU" b="1" dirty="0" err="1"/>
              <a:t>Node</a:t>
            </a:r>
            <a:r>
              <a:rPr lang="ru-RU" b="1" dirty="0"/>
              <a:t> </a:t>
            </a:r>
            <a:r>
              <a:rPr lang="ru-RU" b="1" dirty="0" err="1"/>
              <a:t>Package</a:t>
            </a:r>
            <a:r>
              <a:rPr lang="ru-RU" b="1" dirty="0"/>
              <a:t> Manager) </a:t>
            </a:r>
            <a:r>
              <a:rPr lang="ru-RU" dirty="0"/>
              <a:t>– это инструмент командной строки, который помогает взаимодействовать с онлайн-платформами, такими как браузеры и серверы. Эта утилита помогает в установке и удалении пакетов, управлении версиями и зависимостями, необходимыми для запуска проекта.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E24AAF-DFA4-46CE-BE9C-BACE9E2FE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49" y="4013835"/>
            <a:ext cx="51435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6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/>
              <a:t>NPM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DEDF9-109A-49CB-A7DB-9275752A9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82" y="786765"/>
            <a:ext cx="3419475" cy="3257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8F8515-6308-4E1B-AD51-7AAF29C51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337" y="971431"/>
            <a:ext cx="3971925" cy="542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D95B84-1D10-496A-98E4-B36468354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097" y="2437490"/>
            <a:ext cx="5410200" cy="1143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B990AF-F3A5-4BFD-9800-0E37082BA153}"/>
              </a:ext>
            </a:extLst>
          </p:cNvPr>
          <p:cNvSpPr txBox="1"/>
          <p:nvPr/>
        </p:nvSpPr>
        <p:spPr>
          <a:xfrm>
            <a:off x="1897380" y="4282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400B39-931D-47B5-90A8-EA9B18B866C9}"/>
              </a:ext>
            </a:extLst>
          </p:cNvPr>
          <p:cNvSpPr txBox="1"/>
          <p:nvPr/>
        </p:nvSpPr>
        <p:spPr>
          <a:xfrm>
            <a:off x="5795917" y="6020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3FEE65-B595-4E55-A113-8032C1BB3EEC}"/>
              </a:ext>
            </a:extLst>
          </p:cNvPr>
          <p:cNvSpPr txBox="1"/>
          <p:nvPr/>
        </p:nvSpPr>
        <p:spPr>
          <a:xfrm>
            <a:off x="6995115" y="20660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BBCB5E-9251-4F86-9270-CB7094861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257" y="4229100"/>
            <a:ext cx="7581900" cy="2390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3D37B6-1870-4FDC-8CA7-802C26F6C7DB}"/>
              </a:ext>
            </a:extLst>
          </p:cNvPr>
          <p:cNvSpPr txBox="1"/>
          <p:nvPr/>
        </p:nvSpPr>
        <p:spPr>
          <a:xfrm>
            <a:off x="7145156" y="38597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68962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/>
              <a:t>NPM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9BBAD-D9C9-4640-8A7F-286F4C0D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526857"/>
            <a:ext cx="4133850" cy="3667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2358E7-8D11-4D62-9A17-849D02337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227" y="2414587"/>
            <a:ext cx="53054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6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/>
              <a:t>NPM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D37169-F888-4111-BFA5-B11F2CA7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565" y="2280166"/>
            <a:ext cx="5772150" cy="3143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048B8D-4B2F-40E7-B707-AE4159946703}"/>
              </a:ext>
            </a:extLst>
          </p:cNvPr>
          <p:cNvSpPr txBox="1"/>
          <p:nvPr/>
        </p:nvSpPr>
        <p:spPr>
          <a:xfrm>
            <a:off x="2141219" y="1434584"/>
            <a:ext cx="7909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npm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init</a:t>
            </a:r>
            <a:r>
              <a:rPr lang="en-US" dirty="0">
                <a:solidFill>
                  <a:srgbClr val="FF0000"/>
                </a:solidFill>
              </a:rPr>
              <a:t> - </a:t>
            </a:r>
            <a:r>
              <a:rPr lang="ru-RU" dirty="0"/>
              <a:t>сгенерировать новый файл</a:t>
            </a:r>
            <a:r>
              <a:rPr lang="en-US" dirty="0"/>
              <a:t> </a:t>
            </a:r>
            <a:r>
              <a:rPr lang="ru-RU" dirty="0"/>
              <a:t>конфигурации с именем </a:t>
            </a:r>
            <a:r>
              <a:rPr lang="ru-RU" dirty="0" err="1"/>
              <a:t>package.json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43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/>
              <a:t>NPM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48B8D-4B2F-40E7-B707-AE4159946703}"/>
              </a:ext>
            </a:extLst>
          </p:cNvPr>
          <p:cNvSpPr txBox="1"/>
          <p:nvPr/>
        </p:nvSpPr>
        <p:spPr>
          <a:xfrm>
            <a:off x="133874" y="672584"/>
            <a:ext cx="7909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npm</a:t>
            </a:r>
            <a:r>
              <a:rPr lang="en-US" dirty="0">
                <a:solidFill>
                  <a:srgbClr val="FF0000"/>
                </a:solidFill>
              </a:rPr>
              <a:t> install </a:t>
            </a:r>
            <a:r>
              <a:rPr lang="en-US" b="1" i="1" dirty="0">
                <a:solidFill>
                  <a:srgbClr val="FF0000"/>
                </a:solidFill>
              </a:rPr>
              <a:t>moment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- -</a:t>
            </a:r>
            <a:r>
              <a:rPr lang="en-US" dirty="0">
                <a:solidFill>
                  <a:srgbClr val="FF0000"/>
                </a:solidFill>
              </a:rPr>
              <a:t>save</a:t>
            </a:r>
            <a:r>
              <a:rPr lang="ru-RU" dirty="0">
                <a:solidFill>
                  <a:srgbClr val="FF0000"/>
                </a:solidFill>
              </a:rPr>
              <a:t> - </a:t>
            </a:r>
            <a:r>
              <a:rPr lang="ru-RU" dirty="0"/>
              <a:t>установить пакет JavaScript moment.js,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66BB3-AB66-42B6-8932-E0E81F01BE91}"/>
              </a:ext>
            </a:extLst>
          </p:cNvPr>
          <p:cNvSpPr txBox="1"/>
          <p:nvPr/>
        </p:nvSpPr>
        <p:spPr>
          <a:xfrm>
            <a:off x="133873" y="1104382"/>
            <a:ext cx="11924251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Эта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команда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делает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две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вещи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 :</a:t>
            </a:r>
            <a:endParaRPr kumimoji="0" lang="ru-RU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во-первых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она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загружает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весь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код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пакета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moment.js в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папку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именем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node_modules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ru-RU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Во-вторых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автоматически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изменяет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файл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package.json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чтобы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отслеживать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moment.js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как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зависимость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проекта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184C74-CEAF-44A9-AFC3-DCC451FD8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002" y="2797492"/>
            <a:ext cx="54006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84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/>
              <a:t>NPM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56F84-AED8-477D-9CEC-4A800BA93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646" y="1725930"/>
            <a:ext cx="6524625" cy="4152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6B6152-3491-4E6C-A3C8-8F5C8D6B8661}"/>
              </a:ext>
            </a:extLst>
          </p:cNvPr>
          <p:cNvSpPr txBox="1"/>
          <p:nvPr/>
        </p:nvSpPr>
        <p:spPr>
          <a:xfrm>
            <a:off x="133874" y="686948"/>
            <a:ext cx="1192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EB5757"/>
                </a:solidFill>
                <a:effectLst/>
                <a:latin typeface="SFMono-Regular"/>
              </a:rPr>
              <a:t>npm</a:t>
            </a:r>
            <a:r>
              <a:rPr lang="en-US" dirty="0">
                <a:solidFill>
                  <a:srgbClr val="EB5757"/>
                </a:solidFill>
                <a:effectLst/>
                <a:latin typeface="SFMono-Regular"/>
              </a:rPr>
              <a:t> install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FMono-Regular"/>
              </a:rPr>
              <a:t>– 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SFMono-Regular"/>
              </a:rPr>
              <a:t>установить себе зависимости указанные в файле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FMono-Regular"/>
              </a:rPr>
              <a:t>package.json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52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623B-BE3C-4E32-80F2-080E9345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74" y="50291"/>
            <a:ext cx="11924251" cy="34753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NPM.package</a:t>
            </a:r>
            <a:r>
              <a:rPr lang="en-US" dirty="0"/>
              <a:t>-lock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B6152-3491-4E6C-A3C8-8F5C8D6B8661}"/>
              </a:ext>
            </a:extLst>
          </p:cNvPr>
          <p:cNvSpPr txBox="1"/>
          <p:nvPr/>
        </p:nvSpPr>
        <p:spPr>
          <a:xfrm>
            <a:off x="133874" y="686948"/>
            <a:ext cx="11924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Когда вы устанавливаете пакеты через </a:t>
            </a:r>
            <a:r>
              <a:rPr lang="ru-RU" dirty="0" err="1"/>
              <a:t>npm</a:t>
            </a:r>
            <a:r>
              <a:rPr lang="ru-RU" dirty="0"/>
              <a:t>, автоматически создается файл </a:t>
            </a:r>
            <a:r>
              <a:rPr lang="ru-RU" b="1" dirty="0" err="1">
                <a:effectLst/>
              </a:rPr>
              <a:t>package-lock.json</a:t>
            </a:r>
            <a:r>
              <a:rPr lang="ru-RU" dirty="0"/>
              <a:t>.</a:t>
            </a:r>
            <a:endParaRPr lang="en-US" dirty="0"/>
          </a:p>
          <a:p>
            <a:endParaRPr lang="en-US" b="1" dirty="0">
              <a:effectLst/>
            </a:endParaRPr>
          </a:p>
          <a:p>
            <a:r>
              <a:rPr lang="ru-RU" b="1" dirty="0">
                <a:effectLst/>
              </a:rPr>
              <a:t>Проблема:</a:t>
            </a:r>
            <a:r>
              <a:rPr lang="ru-RU" dirty="0"/>
              <a:t> В </a:t>
            </a:r>
            <a:r>
              <a:rPr lang="ru-RU" dirty="0" err="1"/>
              <a:t>package.json</a:t>
            </a:r>
            <a:r>
              <a:rPr lang="ru-RU" dirty="0"/>
              <a:t> версии указываются как 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"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bootstrap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": "^5.3.0“</a:t>
            </a:r>
            <a:r>
              <a:rPr lang="ru-RU" dirty="0"/>
              <a:t>, что означает "любая совместимая версия". Разные разработчики могут получить разные версии пакетов. То есть </a:t>
            </a:r>
            <a:r>
              <a:rPr lang="ru-RU" dirty="0" err="1"/>
              <a:t>npm</a:t>
            </a:r>
            <a:r>
              <a:rPr lang="ru-RU" dirty="0"/>
              <a:t> может установить 5.3.1, 5.4.0 и т.д.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929E1-4C93-41A9-B971-FB9DD5ABE369}"/>
              </a:ext>
            </a:extLst>
          </p:cNvPr>
          <p:cNvSpPr txBox="1"/>
          <p:nvPr/>
        </p:nvSpPr>
        <p:spPr>
          <a:xfrm>
            <a:off x="133874" y="2309968"/>
            <a:ext cx="1192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</a:rPr>
              <a:t>Решение:</a:t>
            </a:r>
            <a:r>
              <a:rPr lang="ru-RU" dirty="0"/>
              <a:t> </a:t>
            </a:r>
            <a:r>
              <a:rPr lang="ru-RU" dirty="0" err="1"/>
              <a:t>package-lock.json</a:t>
            </a:r>
            <a:r>
              <a:rPr lang="ru-RU" dirty="0"/>
              <a:t> фиксирует точные версии всех пакетов: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081142-6D95-46B4-BA05-6F8475828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136" y="3007031"/>
            <a:ext cx="6943725" cy="1790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222ED6-6011-4715-82F6-158CBB051154}"/>
              </a:ext>
            </a:extLst>
          </p:cNvPr>
          <p:cNvSpPr txBox="1"/>
          <p:nvPr/>
        </p:nvSpPr>
        <p:spPr>
          <a:xfrm>
            <a:off x="0" y="5391835"/>
            <a:ext cx="116501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effectLst/>
              </a:rPr>
              <a:t>Добавляйте в </a:t>
            </a:r>
            <a:r>
              <a:rPr lang="ru-RU" b="1" dirty="0" err="1">
                <a:effectLst/>
              </a:rPr>
              <a:t>git</a:t>
            </a:r>
            <a:r>
              <a:rPr lang="ru-RU" dirty="0"/>
              <a:t> — это гарантирует, что все разработчики получат одинаковые версии пакетов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effectLst/>
              </a:rPr>
              <a:t>Не редактируйте вручную</a:t>
            </a:r>
            <a:r>
              <a:rPr lang="ru-RU" dirty="0"/>
              <a:t> — он автоматически обновляется при установке/удалении пакетов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effectLst/>
              </a:rPr>
              <a:t>При конфликтах</a:t>
            </a:r>
            <a:r>
              <a:rPr lang="ru-RU" dirty="0"/>
              <a:t> — обычно можно удалить файл и выполнить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npm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install</a:t>
            </a:r>
            <a:endParaRPr lang="ru-RU" dirty="0">
              <a:effectLst/>
            </a:endParaRPr>
          </a:p>
          <a:p>
            <a:r>
              <a:rPr lang="ru-RU" dirty="0"/>
              <a:t>заново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18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Scss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9BB9-E9D7-49E6-821D-EF95804D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354" y="666741"/>
            <a:ext cx="10706099" cy="12273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effectLst/>
              </a:rPr>
              <a:t>SCSS </a:t>
            </a:r>
            <a:r>
              <a:rPr lang="ru-RU" dirty="0"/>
              <a:t>— это метаязык (язык для описания другого языка), который упрощает и ускоряет написание CSS-кода.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Его часто называют </a:t>
            </a:r>
            <a:r>
              <a:rPr lang="ru-RU" i="1" dirty="0"/>
              <a:t>препроцессором</a:t>
            </a:r>
            <a:r>
              <a:rPr lang="ru-RU" dirty="0"/>
              <a:t> </a:t>
            </a:r>
            <a:r>
              <a:rPr lang="ru-RU" i="1" dirty="0">
                <a:effectLst/>
              </a:rPr>
              <a:t>CSS</a:t>
            </a:r>
            <a:r>
              <a:rPr lang="ru-RU" dirty="0"/>
              <a:t> — это означает, что SCSS имеет свой синтаксис, из которого специальная программа</a:t>
            </a:r>
            <a:r>
              <a:rPr lang="en-US" dirty="0"/>
              <a:t> </a:t>
            </a:r>
            <a:r>
              <a:rPr lang="ru-RU" dirty="0"/>
              <a:t>генерирует CSS-код, понятный любому браузеру.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86A5C-5448-429B-8C70-FE25ADB7C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57" y="895775"/>
            <a:ext cx="843965" cy="632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4B6967-C845-4563-A6BB-31FCEB633945}"/>
              </a:ext>
            </a:extLst>
          </p:cNvPr>
          <p:cNvSpPr txBox="1"/>
          <p:nvPr/>
        </p:nvSpPr>
        <p:spPr>
          <a:xfrm>
            <a:off x="375556" y="2381742"/>
            <a:ext cx="11677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 SCSS есть «родной брат» - SASS. Отличаются они лишь синтаксисом и то не значительно.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9F14B8-00C1-4A66-B752-03A2085BB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165" y="2923266"/>
            <a:ext cx="89154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85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Для чего нужен </a:t>
            </a:r>
            <a:r>
              <a:rPr lang="en-US" dirty="0" err="1"/>
              <a:t>Scss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9BB9-E9D7-49E6-821D-EF95804D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29" y="737993"/>
            <a:ext cx="11888626" cy="2331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Препроцессор SCSS помогает:</a:t>
            </a:r>
          </a:p>
          <a:p>
            <a:r>
              <a:rPr lang="ru-RU" b="1" dirty="0"/>
              <a:t>сделать CSS-код понятнее и проще</a:t>
            </a:r>
            <a:r>
              <a:rPr lang="ru-RU" dirty="0"/>
              <a:t>. Его легче масштабировать, обновлять и поддерживать;</a:t>
            </a:r>
          </a:p>
          <a:p>
            <a:r>
              <a:rPr lang="ru-RU" b="1" dirty="0"/>
              <a:t>расширить функциональность.</a:t>
            </a:r>
            <a:r>
              <a:rPr lang="ru-RU" dirty="0"/>
              <a:t> С помощью </a:t>
            </a:r>
            <a:r>
              <a:rPr lang="ru-RU" dirty="0" err="1"/>
              <a:t>Sass</a:t>
            </a:r>
            <a:r>
              <a:rPr lang="ru-RU" dirty="0"/>
              <a:t> можно использовать CSS-константы, встроенные функции, вложенные правила, примеси (смешанные стили), наследование и так далее;</a:t>
            </a:r>
          </a:p>
          <a:p>
            <a:r>
              <a:rPr lang="ru-RU" b="1" dirty="0"/>
              <a:t>избежать многократного повторения одинаковых фрагментов кода</a:t>
            </a:r>
            <a:r>
              <a:rPr lang="ru-RU" dirty="0"/>
              <a:t>. Это экономит время разработчика, уменьшает объем файлов стилей и ускоряет обработку страниц.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482C16-7C84-41A4-BE08-847BACE45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903" y="3105396"/>
            <a:ext cx="7744477" cy="31172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80519B-DFB5-43AB-96AC-18C45802C463}"/>
              </a:ext>
            </a:extLst>
          </p:cNvPr>
          <p:cNvSpPr txBox="1"/>
          <p:nvPr/>
        </p:nvSpPr>
        <p:spPr>
          <a:xfrm>
            <a:off x="5153890" y="6258296"/>
            <a:ext cx="2089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Пример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SCSS 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кода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73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начать использовать </a:t>
            </a:r>
            <a:r>
              <a:rPr lang="en-US" dirty="0"/>
              <a:t>SCSS?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9BB9-E9D7-49E6-821D-EF95804D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29" y="737993"/>
            <a:ext cx="11888626" cy="3426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ru-RU" dirty="0"/>
              <a:t>Установить при помощи команды </a:t>
            </a:r>
            <a:r>
              <a:rPr lang="en-US" dirty="0" err="1">
                <a:solidFill>
                  <a:srgbClr val="FF0000"/>
                </a:solidFill>
              </a:rPr>
              <a:t>npm</a:t>
            </a:r>
            <a:r>
              <a:rPr lang="en-US" dirty="0">
                <a:solidFill>
                  <a:srgbClr val="FF0000"/>
                </a:solidFill>
              </a:rPr>
              <a:t> install -g sass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B1ECBD-ECFE-4274-9CCB-A502ADB34A61}"/>
              </a:ext>
            </a:extLst>
          </p:cNvPr>
          <p:cNvSpPr txBox="1"/>
          <p:nvPr/>
        </p:nvSpPr>
        <p:spPr>
          <a:xfrm>
            <a:off x="164829" y="1079901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ru-RU" dirty="0"/>
              <a:t>Создать файл с расширением </a:t>
            </a:r>
            <a:r>
              <a:rPr lang="en-US" dirty="0"/>
              <a:t>.</a:t>
            </a:r>
            <a:r>
              <a:rPr lang="en-US" dirty="0" err="1"/>
              <a:t>scss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8214AD-9EEE-4AEF-8734-C40B70F5FDFF}"/>
              </a:ext>
            </a:extLst>
          </p:cNvPr>
          <p:cNvSpPr txBox="1"/>
          <p:nvPr/>
        </p:nvSpPr>
        <p:spPr>
          <a:xfrm>
            <a:off x="151687" y="1421809"/>
            <a:ext cx="11888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3</a:t>
            </a:r>
            <a:r>
              <a:rPr lang="en-US" dirty="0"/>
              <a:t>. </a:t>
            </a:r>
            <a:r>
              <a:rPr lang="ru-RU" dirty="0" err="1"/>
              <a:t>Транспилировать</a:t>
            </a:r>
            <a:r>
              <a:rPr lang="ru-RU" dirty="0"/>
              <a:t> </a:t>
            </a:r>
            <a:r>
              <a:rPr lang="en-US" dirty="0" err="1"/>
              <a:t>scss</a:t>
            </a:r>
            <a:r>
              <a:rPr lang="ru-RU" dirty="0"/>
              <a:t>-файл в </a:t>
            </a:r>
            <a:r>
              <a:rPr lang="en-US" dirty="0" err="1"/>
              <a:t>css</a:t>
            </a:r>
            <a:r>
              <a:rPr lang="en-US" dirty="0"/>
              <a:t>-</a:t>
            </a:r>
            <a:r>
              <a:rPr lang="ru-RU" dirty="0"/>
              <a:t>файл запустив в консоли команду </a:t>
            </a:r>
            <a:r>
              <a:rPr lang="en-US" dirty="0">
                <a:solidFill>
                  <a:srgbClr val="EB5757"/>
                </a:solidFill>
                <a:effectLst/>
                <a:latin typeface="SFMono-Regular"/>
              </a:rPr>
              <a:t>sass </a:t>
            </a:r>
            <a:r>
              <a:rPr lang="en-US" dirty="0" err="1">
                <a:solidFill>
                  <a:srgbClr val="EB5757"/>
                </a:solidFill>
                <a:effectLst/>
                <a:latin typeface="SFMono-Regular"/>
              </a:rPr>
              <a:t>input.scss</a:t>
            </a:r>
            <a:r>
              <a:rPr lang="en-US" dirty="0">
                <a:solidFill>
                  <a:srgbClr val="EB5757"/>
                </a:solidFill>
                <a:effectLst/>
                <a:latin typeface="SFMono-Regular"/>
              </a:rPr>
              <a:t> output.css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0859C6-8D65-473C-953F-72D4E28400FC}"/>
              </a:ext>
            </a:extLst>
          </p:cNvPr>
          <p:cNvSpPr txBox="1"/>
          <p:nvPr/>
        </p:nvSpPr>
        <p:spPr>
          <a:xfrm>
            <a:off x="375557" y="1726105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EB5757"/>
                </a:solidFill>
                <a:effectLst/>
                <a:latin typeface="SFMono-Regular"/>
              </a:rPr>
              <a:t>input.scss</a:t>
            </a:r>
            <a:r>
              <a:rPr lang="en-US" dirty="0"/>
              <a:t> - </a:t>
            </a:r>
            <a:r>
              <a:rPr lang="ru-RU" dirty="0"/>
              <a:t>исходный </a:t>
            </a:r>
            <a:r>
              <a:rPr lang="en-US" dirty="0" err="1"/>
              <a:t>scss</a:t>
            </a:r>
            <a:r>
              <a:rPr lang="en-US" dirty="0"/>
              <a:t> </a:t>
            </a:r>
            <a:r>
              <a:rPr lang="ru-RU" dirty="0"/>
              <a:t>файл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1EEDCC-68DA-4E74-A818-A94FA25C8018}"/>
              </a:ext>
            </a:extLst>
          </p:cNvPr>
          <p:cNvSpPr txBox="1"/>
          <p:nvPr/>
        </p:nvSpPr>
        <p:spPr>
          <a:xfrm>
            <a:off x="375557" y="2095437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output.css</a:t>
            </a:r>
            <a:r>
              <a:rPr lang="ru-RU" dirty="0"/>
              <a:t> - файл </a:t>
            </a:r>
            <a:r>
              <a:rPr lang="ru-RU" dirty="0" err="1"/>
              <a:t>css</a:t>
            </a:r>
            <a:r>
              <a:rPr lang="ru-RU" dirty="0"/>
              <a:t> получившийся после </a:t>
            </a:r>
            <a:r>
              <a:rPr lang="ru-RU" dirty="0" err="1"/>
              <a:t>транспиляции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71DE0F-2D77-4BC3-8A88-7F4B49E8B6A2}"/>
              </a:ext>
            </a:extLst>
          </p:cNvPr>
          <p:cNvSpPr txBox="1"/>
          <p:nvPr/>
        </p:nvSpPr>
        <p:spPr>
          <a:xfrm>
            <a:off x="164829" y="2464769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4</a:t>
            </a:r>
            <a:r>
              <a:rPr lang="en-US" dirty="0"/>
              <a:t>. </a:t>
            </a:r>
            <a:r>
              <a:rPr lang="ru-RU" dirty="0"/>
              <a:t>Подключить </a:t>
            </a:r>
            <a:r>
              <a:rPr lang="en-US" dirty="0" err="1"/>
              <a:t>css</a:t>
            </a:r>
            <a:r>
              <a:rPr lang="en-US" dirty="0"/>
              <a:t> </a:t>
            </a:r>
            <a:r>
              <a:rPr lang="ru-RU" dirty="0"/>
              <a:t>стили в </a:t>
            </a:r>
            <a:r>
              <a:rPr lang="en-US" dirty="0"/>
              <a:t>html</a:t>
            </a:r>
            <a:r>
              <a:rPr lang="ru-RU" dirty="0"/>
              <a:t>-файл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858CA-847E-4542-B0F3-63CE80BA3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04" y="3507729"/>
            <a:ext cx="5114925" cy="32575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6F8233-463E-4E5E-B491-94D8E5B531ED}"/>
              </a:ext>
            </a:extLst>
          </p:cNvPr>
          <p:cNvSpPr txBox="1"/>
          <p:nvPr/>
        </p:nvSpPr>
        <p:spPr>
          <a:xfrm>
            <a:off x="5636600" y="4882194"/>
            <a:ext cx="166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npm</a:t>
            </a:r>
            <a:r>
              <a:rPr lang="en-US" dirty="0">
                <a:solidFill>
                  <a:srgbClr val="FF0000"/>
                </a:solidFill>
              </a:rPr>
              <a:t> run build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594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Переменные в </a:t>
            </a:r>
            <a:r>
              <a:rPr lang="en-US" dirty="0"/>
              <a:t>SCSS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72591F3-ABD3-47C3-AC47-3BB38CFA2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29" y="714243"/>
            <a:ext cx="4021223" cy="215364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err="1"/>
              <a:t>Sass</a:t>
            </a:r>
            <a:r>
              <a:rPr lang="ru-RU" dirty="0"/>
              <a:t> поддерживает несколько типов переменных: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/>
              <a:t>строки;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/>
              <a:t>списки;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/>
              <a:t>числовые значения;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/>
              <a:t>пустые значения </a:t>
            </a:r>
            <a:r>
              <a:rPr lang="ru-RU" dirty="0" err="1"/>
              <a:t>null</a:t>
            </a:r>
            <a:r>
              <a:rPr lang="ru-RU" dirty="0"/>
              <a:t>;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/>
              <a:t>цвета;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/>
              <a:t>логические (булевы) значения.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28AF54-2589-4FA7-8E49-7832EE870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244" y="919890"/>
            <a:ext cx="7125135" cy="26727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E73BE6-7CBB-4223-9736-46C44B8E4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29" y="3862764"/>
            <a:ext cx="8114528" cy="25740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DCB1E1-9C06-48F2-8A21-9C9ED6CE24D1}"/>
              </a:ext>
            </a:extLst>
          </p:cNvPr>
          <p:cNvSpPr txBox="1"/>
          <p:nvPr/>
        </p:nvSpPr>
        <p:spPr>
          <a:xfrm>
            <a:off x="1905990" y="356259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css</a:t>
            </a:r>
            <a:r>
              <a:rPr lang="ru-RU" dirty="0"/>
              <a:t>-файл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6680BF-FCEB-4816-A5DF-C92945179EE2}"/>
              </a:ext>
            </a:extLst>
          </p:cNvPr>
          <p:cNvSpPr txBox="1"/>
          <p:nvPr/>
        </p:nvSpPr>
        <p:spPr>
          <a:xfrm>
            <a:off x="7297388" y="614265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scss</a:t>
            </a:r>
            <a:r>
              <a:rPr lang="ru-RU" dirty="0"/>
              <a:t>-файл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910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Переменные в </a:t>
            </a:r>
            <a:r>
              <a:rPr lang="en-US" dirty="0"/>
              <a:t>SCSS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C68C66-87F5-474E-A0F8-6627F4C08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830" y="2484733"/>
            <a:ext cx="10532623" cy="3096669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09BCC1-4E74-4F50-8B44-344F55CF1278}"/>
              </a:ext>
            </a:extLst>
          </p:cNvPr>
          <p:cNvSpPr txBox="1"/>
          <p:nvPr/>
        </p:nvSpPr>
        <p:spPr>
          <a:xfrm>
            <a:off x="842830" y="883215"/>
            <a:ext cx="10532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Область видимости переменных SCSS ограничивается вложенными элементами — это позволяет предотвратить влияние стилей друг на друга.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459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Отличие </a:t>
            </a:r>
            <a:r>
              <a:rPr lang="en-US" dirty="0"/>
              <a:t>CSS </a:t>
            </a:r>
            <a:r>
              <a:rPr lang="ru-RU" dirty="0"/>
              <a:t>переменных от </a:t>
            </a:r>
            <a:r>
              <a:rPr lang="en-US" dirty="0"/>
              <a:t>SCSS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131790-7C04-49AB-9FD8-E199AD79FDC5}"/>
              </a:ext>
            </a:extLst>
          </p:cNvPr>
          <p:cNvSpPr txBox="1"/>
          <p:nvPr/>
        </p:nvSpPr>
        <p:spPr>
          <a:xfrm>
            <a:off x="145037" y="760458"/>
            <a:ext cx="118114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отличие от переменных SASS, </a:t>
            </a:r>
            <a:r>
              <a:rPr lang="en-US" dirty="0"/>
              <a:t>CSS</a:t>
            </a:r>
            <a:r>
              <a:rPr lang="ru-RU" dirty="0"/>
              <a:t> свойства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ограничены элементом на котором они объявлены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ограничены каскадом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ими можно управлять в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scss</a:t>
            </a:r>
            <a:r>
              <a:rPr lang="ru-RU" dirty="0"/>
              <a:t> переменные нельзя перезаписывать</a:t>
            </a:r>
            <a:r>
              <a:rPr lang="en-US" dirty="0"/>
              <a:t>. </a:t>
            </a:r>
            <a:r>
              <a:rPr lang="ru-RU" dirty="0"/>
              <a:t>То есть, данный код работать не будет.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3720BC-A923-489F-A3FC-398740D27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529" y="2293298"/>
            <a:ext cx="3787180" cy="20024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585067-D818-43C2-9D96-05FBFE841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11" y="3715552"/>
            <a:ext cx="4036149" cy="28630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B4EBC7-EB0F-4BEE-90A1-0BBECD13F6CD}"/>
              </a:ext>
            </a:extLst>
          </p:cNvPr>
          <p:cNvSpPr txBox="1"/>
          <p:nvPr/>
        </p:nvSpPr>
        <p:spPr>
          <a:xfrm>
            <a:off x="4757760" y="5058888"/>
            <a:ext cx="1557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 такой будет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93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Модули и </a:t>
            </a:r>
            <a:r>
              <a:rPr lang="en-US" dirty="0"/>
              <a:t>partial-</a:t>
            </a:r>
            <a:r>
              <a:rPr lang="ru-RU" dirty="0"/>
              <a:t>файлы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3015E-9188-45ED-AC34-FC2251278FD1}"/>
              </a:ext>
            </a:extLst>
          </p:cNvPr>
          <p:cNvSpPr txBox="1"/>
          <p:nvPr/>
        </p:nvSpPr>
        <p:spPr>
          <a:xfrm>
            <a:off x="164828" y="639910"/>
            <a:ext cx="118886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 err="1"/>
              <a:t>Partial</a:t>
            </a:r>
            <a:r>
              <a:rPr lang="ru-RU" i="1" dirty="0"/>
              <a:t> файл </a:t>
            </a:r>
            <a:r>
              <a:rPr lang="ru-RU" dirty="0"/>
              <a:t>— это файл SCSS, имя которого начинается с подчеркивания. Вы можете назвать его примерно так: 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_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partial.scss</a:t>
            </a:r>
            <a:r>
              <a:rPr lang="ru-RU" dirty="0"/>
              <a:t>. Подчеркивание сообщает </a:t>
            </a:r>
            <a:r>
              <a:rPr lang="ru-RU" dirty="0" err="1"/>
              <a:t>Sass</a:t>
            </a:r>
            <a:r>
              <a:rPr lang="ru-RU" dirty="0"/>
              <a:t>, что файл является лишь частью файла и что его не следует создавать в файл CSS. Загрузить такие файлы/модули можно при помощи оператора @use. </a:t>
            </a:r>
          </a:p>
          <a:p>
            <a:endParaRPr lang="ru-RU" dirty="0"/>
          </a:p>
          <a:p>
            <a:r>
              <a:rPr lang="ru-RU" dirty="0"/>
              <a:t>Это отличный способ </a:t>
            </a:r>
            <a:r>
              <a:rPr lang="ru-RU" dirty="0" err="1"/>
              <a:t>модульизировать</a:t>
            </a:r>
            <a:r>
              <a:rPr lang="ru-RU" dirty="0"/>
              <a:t> ваш CSS и упростить его поддержку.</a:t>
            </a:r>
            <a:r>
              <a:rPr lang="en-US" dirty="0"/>
              <a:t> </a:t>
            </a:r>
            <a:r>
              <a:rPr lang="ru-RU" dirty="0"/>
              <a:t>То есть, вместо того чтобы иметь один большой файл со множеством стилей, вы можете вынести часть стилей в разные </a:t>
            </a:r>
            <a:endParaRPr lang="en-US" dirty="0"/>
          </a:p>
        </p:txBody>
      </p:sp>
      <p:pic>
        <p:nvPicPr>
          <p:cNvPr id="2052" name="Picture 4" descr="sass - PhpStorm SCSS trigger compilation on partial change - Stack Overflow">
            <a:extLst>
              <a:ext uri="{FF2B5EF4-FFF2-40B4-BE49-F238E27FC236}">
                <a16:creationId xmlns:a16="http://schemas.microsoft.com/office/drawing/2014/main" id="{B0C7DEF3-01A4-4C9A-BB06-D5248E504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297" y="3247341"/>
            <a:ext cx="4281406" cy="315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258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Модули и </a:t>
            </a:r>
            <a:r>
              <a:rPr lang="en-US" dirty="0"/>
              <a:t>partial-</a:t>
            </a:r>
            <a:r>
              <a:rPr lang="ru-RU" dirty="0"/>
              <a:t>файлы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7860F-A465-4541-A5A3-AF19AAB0F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40" y="1247775"/>
            <a:ext cx="9534525" cy="43624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29494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en-US" dirty="0"/>
              <a:t>@Import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62395-04E2-44DF-9012-5233C0FFE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881" y="4004459"/>
            <a:ext cx="3695700" cy="243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53CC4F-B39A-4B40-8574-41672AAB5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07" y="857498"/>
            <a:ext cx="2867025" cy="2209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7340F0-9EC9-4CD1-B092-7A07B2041394}"/>
              </a:ext>
            </a:extLst>
          </p:cNvPr>
          <p:cNvSpPr txBox="1"/>
          <p:nvPr/>
        </p:nvSpPr>
        <p:spPr>
          <a:xfrm>
            <a:off x="3713522" y="1707117"/>
            <a:ext cx="2312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Объявляем </a:t>
            </a:r>
            <a:r>
              <a:rPr lang="en-US" dirty="0" err="1"/>
              <a:t>scss</a:t>
            </a:r>
            <a:r>
              <a:rPr lang="en-US" dirty="0"/>
              <a:t> </a:t>
            </a:r>
            <a:r>
              <a:rPr lang="ru-RU" dirty="0"/>
              <a:t>файл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E6AE32-9F9B-4755-8346-D2FE0D78A887}"/>
              </a:ext>
            </a:extLst>
          </p:cNvPr>
          <p:cNvSpPr txBox="1"/>
          <p:nvPr/>
        </p:nvSpPr>
        <p:spPr>
          <a:xfrm>
            <a:off x="2359119" y="4966217"/>
            <a:ext cx="343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Импортируем его в другой файл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291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Родительский селектор (</a:t>
            </a:r>
            <a:r>
              <a:rPr lang="en-US" dirty="0"/>
              <a:t>&amp;)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8BC72-E9F3-449D-89AD-5D9ADCDF821A}"/>
              </a:ext>
            </a:extLst>
          </p:cNvPr>
          <p:cNvSpPr txBox="1"/>
          <p:nvPr/>
        </p:nvSpPr>
        <p:spPr>
          <a:xfrm>
            <a:off x="164829" y="857532"/>
            <a:ext cx="11888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Родительский селектор </a:t>
            </a:r>
            <a:r>
              <a:rPr lang="en-US" dirty="0"/>
              <a:t>(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&amp;</a:t>
            </a:r>
            <a:r>
              <a:rPr lang="en-US" dirty="0"/>
              <a:t>)</a:t>
            </a:r>
            <a:r>
              <a:rPr lang="ru-RU" dirty="0"/>
              <a:t>— это специальный селектор, изобретенный </a:t>
            </a:r>
            <a:r>
              <a:rPr lang="ru-RU" dirty="0" err="1"/>
              <a:t>Sass</a:t>
            </a:r>
            <a:r>
              <a:rPr lang="ru-RU" dirty="0"/>
              <a:t>, который используется во вложенных селекторах для ссылки на внешний (родительский) селектор.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1CDE8B-821A-484A-859B-140CB89D1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20" y="1667431"/>
            <a:ext cx="9620250" cy="49244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5664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en-US" dirty="0"/>
              <a:t>Bootstrap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118AA-C0B0-4824-90E2-859F4C41FC6E}"/>
              </a:ext>
            </a:extLst>
          </p:cNvPr>
          <p:cNvSpPr txBox="1"/>
          <p:nvPr/>
        </p:nvSpPr>
        <p:spPr>
          <a:xfrm>
            <a:off x="1462149" y="666630"/>
            <a:ext cx="105913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Bootstrap</a:t>
            </a:r>
            <a:r>
              <a:rPr lang="ru-RU" dirty="0"/>
              <a:t> — это открытый и бесплатный </a:t>
            </a:r>
            <a:r>
              <a:rPr lang="ru-RU" dirty="0">
                <a:effectLst/>
              </a:rPr>
              <a:t>HTML-</a:t>
            </a:r>
            <a:r>
              <a:rPr lang="ru-RU" dirty="0"/>
              <a:t>, </a:t>
            </a:r>
            <a:r>
              <a:rPr lang="ru-RU" dirty="0">
                <a:effectLst/>
              </a:rPr>
              <a:t>CSS-</a:t>
            </a:r>
            <a:r>
              <a:rPr lang="ru-RU" dirty="0"/>
              <a:t> и </a:t>
            </a:r>
            <a:r>
              <a:rPr lang="ru-RU" dirty="0">
                <a:effectLst/>
              </a:rPr>
              <a:t>JS-фреймворк</a:t>
            </a:r>
            <a:r>
              <a:rPr lang="ru-RU" dirty="0"/>
              <a:t>, который используют веб-разработчики для быстрой верстки адаптивных дизайнов сайтов и веб-приложений. Включает в себя CSS- и HTML-шаблоны оформления для веб-форм, меток, типографики, кнопок, блоков навигации и других компонентов веб-интерфейса.</a:t>
            </a:r>
            <a:endParaRPr lang="en-US" dirty="0"/>
          </a:p>
        </p:txBody>
      </p:sp>
      <p:pic>
        <p:nvPicPr>
          <p:cNvPr id="3074" name="Picture 2" descr="upload.wikimedia.org/wikipedia/commons/thumb/b/...">
            <a:extLst>
              <a:ext uri="{FF2B5EF4-FFF2-40B4-BE49-F238E27FC236}">
                <a16:creationId xmlns:a16="http://schemas.microsoft.com/office/drawing/2014/main" id="{CDCBC811-9873-4A9F-AD6A-1D97E551A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29" y="732404"/>
            <a:ext cx="1341169" cy="1068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0DD85E-D39F-4C3A-9BD0-4480E79A35AB}"/>
              </a:ext>
            </a:extLst>
          </p:cNvPr>
          <p:cNvSpPr txBox="1"/>
          <p:nvPr/>
        </p:nvSpPr>
        <p:spPr>
          <a:xfrm>
            <a:off x="164829" y="1881005"/>
            <a:ext cx="118886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Другими словами, </a:t>
            </a:r>
            <a:r>
              <a:rPr lang="ru-RU" dirty="0" err="1"/>
              <a:t>Bootstrap</a:t>
            </a:r>
            <a:r>
              <a:rPr lang="ru-RU" dirty="0"/>
              <a:t> — это набор файлов. После их подключения к странице для верстки станет доступно большое количество готовых компонентов и классов. Они позволяют быстро и качественно создавать адаптивный дизайн сайта.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6813FB-0242-4D4E-8C4E-92A54C298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21" y="2953528"/>
            <a:ext cx="6932963" cy="13390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FB3121-BCF4-4CF1-A18C-AA019566D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346" y="4400286"/>
            <a:ext cx="6757184" cy="235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58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работает </a:t>
            </a:r>
            <a:r>
              <a:rPr lang="en-US" dirty="0"/>
              <a:t>Bootstrap?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5EE5EF-7591-44A4-B485-AD170B58E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894" y="1335293"/>
            <a:ext cx="8696325" cy="981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34608E-0F1E-4D4F-B6F0-16B7B870D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617" y="3590306"/>
            <a:ext cx="39147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08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подключить </a:t>
            </a:r>
            <a:r>
              <a:rPr lang="en-US" dirty="0"/>
              <a:t>Bootstrap?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8E7F7-FBE6-4BF4-B181-9EFF68BF1842}"/>
              </a:ext>
            </a:extLst>
          </p:cNvPr>
          <p:cNvSpPr txBox="1"/>
          <p:nvPr/>
        </p:nvSpPr>
        <p:spPr>
          <a:xfrm>
            <a:off x="1370174" y="1217118"/>
            <a:ext cx="9477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Подключить </a:t>
            </a:r>
            <a:r>
              <a:rPr lang="ru-RU" dirty="0" err="1"/>
              <a:t>Бутстрап</a:t>
            </a:r>
            <a:r>
              <a:rPr lang="ru-RU" dirty="0"/>
              <a:t> можно либо через NPM, либо загрузив необходимые исходники в </a:t>
            </a:r>
            <a:r>
              <a:rPr lang="ru-RU" dirty="0" err="1"/>
              <a:t>html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9C31E0-693D-441A-800F-58514E897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572" y="1823357"/>
            <a:ext cx="74676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88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использования </a:t>
            </a:r>
            <a:r>
              <a:rPr lang="en-US" dirty="0" err="1"/>
              <a:t>BOOtsrap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1085E2-429A-4A8C-ACF4-AB165FD3A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471" y="765401"/>
            <a:ext cx="2343150" cy="1800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91449E-5879-4BE3-B4C9-F7916A6A6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" y="3652961"/>
            <a:ext cx="1117282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154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ru-RU" dirty="0"/>
              <a:t>Когда лучше использовать </a:t>
            </a:r>
            <a:r>
              <a:rPr lang="en-US" dirty="0"/>
              <a:t>bootstrap?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64F62-A6ED-4D16-B2B9-0FC2BE645A93}"/>
              </a:ext>
            </a:extLst>
          </p:cNvPr>
          <p:cNvSpPr txBox="1"/>
          <p:nvPr/>
        </p:nvSpPr>
        <p:spPr>
          <a:xfrm>
            <a:off x="225908" y="632177"/>
            <a:ext cx="11740184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Его не имеет смысла использовать для: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создание </a:t>
            </a:r>
            <a:r>
              <a:rPr lang="ru-RU" dirty="0" err="1"/>
              <a:t>фронтенд</a:t>
            </a:r>
            <a:r>
              <a:rPr lang="ru-RU" dirty="0"/>
              <a:t> проектов с уникальным дизайном;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/>
              <a:t>разрботки</a:t>
            </a:r>
            <a:r>
              <a:rPr lang="ru-RU" dirty="0"/>
              <a:t> проектов, в которых заказчик готов платить за проект на «чистом» CSS и JavaScript (в большинстве случаях такая разработка осуществляется в команде, в которой каждый её участник выполняет какой-то свой определенный набор функций);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вёрстки личных проектов, если у вас есть достаточно количество времени и ваш уровень знаний по HTML, CSS и JavaScript является достаточным, чтобы это осуществить.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99D826-48BB-4AE3-91A2-A6F97207B5B7}"/>
              </a:ext>
            </a:extLst>
          </p:cNvPr>
          <p:cNvSpPr txBox="1"/>
          <p:nvPr/>
        </p:nvSpPr>
        <p:spPr>
          <a:xfrm>
            <a:off x="403762" y="4275118"/>
            <a:ext cx="2331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Недостатки </a:t>
            </a:r>
            <a:r>
              <a:rPr lang="en-US" dirty="0"/>
              <a:t>Bootstrap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E08D0F-5A70-4D9C-9F33-1BD67D1C33E8}"/>
              </a:ext>
            </a:extLst>
          </p:cNvPr>
          <p:cNvSpPr txBox="1"/>
          <p:nvPr/>
        </p:nvSpPr>
        <p:spPr>
          <a:xfrm>
            <a:off x="403761" y="4644450"/>
            <a:ext cx="115623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Более большой размер конечных </a:t>
            </a:r>
            <a:r>
              <a:rPr lang="ru-RU" dirty="0" err="1"/>
              <a:t>css</a:t>
            </a:r>
            <a:r>
              <a:rPr lang="ru-RU" dirty="0"/>
              <a:t> и </a:t>
            </a:r>
            <a:r>
              <a:rPr lang="ru-RU" dirty="0" err="1"/>
              <a:t>js</a:t>
            </a:r>
            <a:r>
              <a:rPr lang="ru-RU" dirty="0"/>
              <a:t>-файлов проекта, чем они получились, если бы мы всё это создавали самостоятельно</a:t>
            </a:r>
            <a:r>
              <a:rPr lang="en-US" dirty="0"/>
              <a:t>;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ru-RU" dirty="0"/>
              <a:t>ложность использования </a:t>
            </a:r>
            <a:r>
              <a:rPr lang="ru-RU" dirty="0" err="1"/>
              <a:t>Bootstrap</a:t>
            </a:r>
            <a:r>
              <a:rPr lang="ru-RU" dirty="0"/>
              <a:t> для вёрстки сайтов с уникальным дизайном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0187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FB8F-EA69-4AD4-85A0-57A4CF8D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9" y="97793"/>
            <a:ext cx="11888626" cy="400971"/>
          </a:xfrm>
        </p:spPr>
        <p:txBody>
          <a:bodyPr>
            <a:normAutofit fontScale="90000"/>
          </a:bodyPr>
          <a:lstStyle/>
          <a:p>
            <a:r>
              <a:rPr lang="en-US" dirty="0"/>
              <a:t>Tailwind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8338F-9C05-454B-9665-08046B120BBD}"/>
              </a:ext>
            </a:extLst>
          </p:cNvPr>
          <p:cNvSpPr txBox="1"/>
          <p:nvPr/>
        </p:nvSpPr>
        <p:spPr>
          <a:xfrm>
            <a:off x="2143496" y="792368"/>
            <a:ext cx="9909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0E0E0F"/>
                </a:solidFill>
                <a:effectLst/>
                <a:latin typeface="Inter"/>
              </a:rPr>
              <a:t>TailwindCSS</a:t>
            </a:r>
            <a:r>
              <a:rPr lang="ru-RU" b="0" i="0" dirty="0">
                <a:solidFill>
                  <a:srgbClr val="0E0E0F"/>
                </a:solidFill>
                <a:effectLst/>
                <a:latin typeface="Inter"/>
              </a:rPr>
              <a:t> – это постепенно набирающий популярность CSS-фреймворк, позволяющий вносить изменения в оформление сайтов и приложений, не покидая HTML-разметку </a:t>
            </a:r>
            <a:endParaRPr lang="en-US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FF2EF05A-E69B-43E5-B75B-0C9E439A4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43" y="695511"/>
            <a:ext cx="1831953" cy="111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4FEE61-70F7-4748-AB38-82EE0B9F5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43" y="2453129"/>
            <a:ext cx="11687517" cy="7384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3236C3-F59C-4668-812A-D1CAE06B1455}"/>
              </a:ext>
            </a:extLst>
          </p:cNvPr>
          <p:cNvSpPr txBox="1"/>
          <p:nvPr/>
        </p:nvSpPr>
        <p:spPr>
          <a:xfrm>
            <a:off x="4583876" y="2125683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AC5BE9-ADFC-4B3A-8641-CDE811F56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823" y="3912232"/>
            <a:ext cx="4657725" cy="28479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9C71F8-1FB4-418A-BA31-0C712480871A}"/>
              </a:ext>
            </a:extLst>
          </p:cNvPr>
          <p:cNvSpPr txBox="1"/>
          <p:nvPr/>
        </p:nvSpPr>
        <p:spPr>
          <a:xfrm>
            <a:off x="3844285" y="3542900"/>
            <a:ext cx="43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Что из себя представляют </a:t>
            </a:r>
            <a:r>
              <a:rPr lang="en-US" dirty="0"/>
              <a:t>tailwind </a:t>
            </a:r>
            <a:r>
              <a:rPr lang="ru-RU" dirty="0"/>
              <a:t>классы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63206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283</TotalTime>
  <Words>984</Words>
  <Application>Microsoft Office PowerPoint</Application>
  <PresentationFormat>Widescreen</PresentationFormat>
  <Paragraphs>94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Corbel</vt:lpstr>
      <vt:lpstr>Gill Sans MT</vt:lpstr>
      <vt:lpstr>Inter</vt:lpstr>
      <vt:lpstr>SFMono-Regular</vt:lpstr>
      <vt:lpstr>Parcel</vt:lpstr>
      <vt:lpstr>8.NPm. scss. Bootstrap. tailwind</vt:lpstr>
      <vt:lpstr>NPM</vt:lpstr>
      <vt:lpstr>NPM</vt:lpstr>
      <vt:lpstr>NPM</vt:lpstr>
      <vt:lpstr>NPM</vt:lpstr>
      <vt:lpstr>NPM</vt:lpstr>
      <vt:lpstr>NPM</vt:lpstr>
      <vt:lpstr>NPM.package-lock</vt:lpstr>
      <vt:lpstr>Scss</vt:lpstr>
      <vt:lpstr>Для чего нужен Scss?</vt:lpstr>
      <vt:lpstr>Как начать использовать SCSS?</vt:lpstr>
      <vt:lpstr>Переменные в SCSS</vt:lpstr>
      <vt:lpstr>Переменные в SCSS</vt:lpstr>
      <vt:lpstr>Отличие CSS переменных от SCSS</vt:lpstr>
      <vt:lpstr>Модули и partial-файлы</vt:lpstr>
      <vt:lpstr>Модули и partial-файлы</vt:lpstr>
      <vt:lpstr>@Import</vt:lpstr>
      <vt:lpstr>Родительский селектор (&amp;)</vt:lpstr>
      <vt:lpstr>Bootstrap</vt:lpstr>
      <vt:lpstr>Как работает Bootstrap?</vt:lpstr>
      <vt:lpstr>Как подключить Bootstrap?</vt:lpstr>
      <vt:lpstr>Пример использования BOOtsrap</vt:lpstr>
      <vt:lpstr>Когда лучше использовать bootstrap?</vt:lpstr>
      <vt:lpstr>Tailwind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7.scss. Bootstrap. tailwind</dc:title>
  <dc:creator>roman</dc:creator>
  <cp:lastModifiedBy>рома борисов</cp:lastModifiedBy>
  <cp:revision>85</cp:revision>
  <dcterms:created xsi:type="dcterms:W3CDTF">2023-10-16T14:17:39Z</dcterms:created>
  <dcterms:modified xsi:type="dcterms:W3CDTF">2025-10-17T14:13:41Z</dcterms:modified>
</cp:coreProperties>
</file>