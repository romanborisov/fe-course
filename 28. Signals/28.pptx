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veloper.mozilla.org/docs/Web/JavaScript/Reference/Global_Objects/Object/i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AA03-C1DD-422A-8952-99677B664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28. Signals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F25F9-7FEC-48F3-ABD7-1E7DDEA28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en-US" dirty="0"/>
              <a:t>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Сигнал</a:t>
            </a:r>
            <a:r>
              <a:rPr lang="ru-RU" dirty="0"/>
              <a:t> — это обертка вокруг значения, которая может уведомлять заинтересованных потребителей об изменении этого значения. Сигналы могут содержать любое значение, от простых примитивов до сложных структур данных.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или</a:t>
            </a:r>
            <a:endParaRPr lang="en-US" dirty="0"/>
          </a:p>
          <a:p>
            <a:pPr marL="0" indent="0">
              <a:buNone/>
            </a:pPr>
            <a:r>
              <a:rPr lang="ru-RU" b="1" dirty="0">
                <a:effectLst/>
              </a:rPr>
              <a:t>Сигнал</a:t>
            </a:r>
            <a:r>
              <a:rPr lang="ru-RU" dirty="0"/>
              <a:t> — это концепция, которая используется для отслеживания и реакции на изменения данных. Она упрощает управление состоянием и позволяет автоматически обновлять компоненты, когда данные изменяются.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Почему </a:t>
            </a:r>
            <a:r>
              <a:rPr lang="ru-RU" b="1" dirty="0" err="1"/>
              <a:t>Signal</a:t>
            </a:r>
            <a:r>
              <a:rPr lang="ru-RU" b="1" dirty="0"/>
              <a:t> важен?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Реактивность</a:t>
            </a:r>
            <a:r>
              <a:rPr lang="ru-RU" dirty="0"/>
              <a:t>: </a:t>
            </a:r>
            <a:r>
              <a:rPr lang="ru-RU" dirty="0" err="1"/>
              <a:t>Signal</a:t>
            </a:r>
            <a:r>
              <a:rPr lang="ru-RU" dirty="0"/>
              <a:t> позволяет автоматически реагировать на изменения данных, что упрощает синхронизацию состояния приложения и пользовательского интерфейса.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Производительность</a:t>
            </a:r>
            <a:r>
              <a:rPr lang="ru-RU" dirty="0"/>
              <a:t>: Использование </a:t>
            </a:r>
            <a:r>
              <a:rPr lang="ru-RU" dirty="0" err="1"/>
              <a:t>Signal</a:t>
            </a:r>
            <a:r>
              <a:rPr lang="ru-RU" dirty="0"/>
              <a:t> может улучшить производительность за счет оптимизации рендеринга компонентов.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Простота</a:t>
            </a:r>
            <a:r>
              <a:rPr lang="ru-RU" dirty="0"/>
              <a:t>: </a:t>
            </a:r>
            <a:r>
              <a:rPr lang="ru-RU" dirty="0" err="1"/>
              <a:t>Signal</a:t>
            </a:r>
            <a:r>
              <a:rPr lang="ru-RU" dirty="0"/>
              <a:t> упрощает код, делая его более читаемым и поддерживаемым.</a:t>
            </a:r>
          </a:p>
          <a:p>
            <a:pPr marL="0" indent="0">
              <a:buNone/>
            </a:pPr>
            <a:r>
              <a:rPr lang="ru-RU" dirty="0"/>
              <a:t>Сигналы могут быть либо </a:t>
            </a:r>
            <a:r>
              <a:rPr lang="ru-RU" i="1" dirty="0"/>
              <a:t>записываемыми (</a:t>
            </a:r>
            <a:r>
              <a:rPr lang="ru-RU" i="1" dirty="0" err="1"/>
              <a:t>writable</a:t>
            </a:r>
            <a:r>
              <a:rPr lang="ru-RU" i="1" dirty="0"/>
              <a:t>)</a:t>
            </a:r>
            <a:r>
              <a:rPr lang="ru-RU" dirty="0"/>
              <a:t>, либо </a:t>
            </a:r>
            <a:r>
              <a:rPr lang="ru-RU" i="1" dirty="0"/>
              <a:t>только для чтения (</a:t>
            </a:r>
            <a:r>
              <a:rPr lang="ru-RU" i="1" dirty="0" err="1"/>
              <a:t>read-only</a:t>
            </a:r>
            <a:r>
              <a:rPr lang="ru-RU" i="1" dirty="0"/>
              <a:t>).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04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en-US" dirty="0"/>
              <a:t>writable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const count = signal(0);</a:t>
            </a:r>
            <a:r>
              <a:rPr lang="ru-RU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 создание сигнала</a:t>
            </a:r>
          </a:p>
          <a:p>
            <a:pPr marL="0" indent="0">
              <a:buNone/>
            </a:pP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buNone/>
            </a:pPr>
            <a:r>
              <a:rPr lang="ru-RU" dirty="0"/>
              <a:t>Чтобы получить текущее значение сигнала необходимо вызвать его как функцию.</a:t>
            </a:r>
          </a:p>
          <a:p>
            <a:pPr marL="0" indent="0">
              <a:buNone/>
            </a:pPr>
            <a:endParaRPr lang="en-US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604F4-4D52-4B6D-B7EF-3DE5BA65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16" y="2175616"/>
            <a:ext cx="7869806" cy="729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2EF259-C5D5-4337-A042-BEF1BF451A03}"/>
              </a:ext>
            </a:extLst>
          </p:cNvPr>
          <p:cNvSpPr txBox="1"/>
          <p:nvPr/>
        </p:nvSpPr>
        <p:spPr>
          <a:xfrm>
            <a:off x="186316" y="3331928"/>
            <a:ext cx="6097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Изменить значение сигнала можно двумя способами:</a:t>
            </a:r>
          </a:p>
          <a:p>
            <a:pPr marL="342900" indent="-342900">
              <a:buAutoNum type="arabicPeriod"/>
            </a:pPr>
            <a:r>
              <a:rPr lang="en-US" i="1" dirty="0"/>
              <a:t>Set </a:t>
            </a:r>
          </a:p>
          <a:p>
            <a:r>
              <a:rPr lang="en-US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</a:t>
            </a:r>
            <a:r>
              <a:rPr lang="en-US" i="1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count.set</a:t>
            </a:r>
            <a:r>
              <a:rPr lang="en-US" i="1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(3);</a:t>
            </a:r>
          </a:p>
          <a:p>
            <a:endParaRPr lang="en-US" i="1" dirty="0"/>
          </a:p>
          <a:p>
            <a:r>
              <a:rPr lang="en-US" i="1" dirty="0"/>
              <a:t>2.    Update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77F63D-F8E2-4DEB-B7D5-637F1760B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63" y="4809256"/>
            <a:ext cx="4460059" cy="9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1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Computed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Вычисляемые сигналы - </a:t>
            </a:r>
            <a:r>
              <a:rPr lang="ru-RU" dirty="0"/>
              <a:t>это </a:t>
            </a:r>
            <a:r>
              <a:rPr lang="ru-RU" dirty="0" err="1"/>
              <a:t>read-only</a:t>
            </a:r>
            <a:r>
              <a:rPr lang="ru-RU" dirty="0"/>
              <a:t> сигналы, которые получают свою значения из других сигналов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Создание:</a:t>
            </a:r>
          </a:p>
          <a:p>
            <a:pPr marL="0" indent="0">
              <a:buNone/>
            </a:pP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buNone/>
            </a:pP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buNone/>
            </a:pPr>
            <a:endParaRPr lang="ru-RU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indent="0">
              <a:buNone/>
            </a:pPr>
            <a:r>
              <a:rPr lang="ru-RU" dirty="0"/>
              <a:t>Вычисляемые сигналы лениво оцениваются и запоминаются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.</a:t>
            </a:r>
          </a:p>
          <a:p>
            <a:pPr marL="0" indent="0">
              <a:buNone/>
            </a:pPr>
            <a:r>
              <a:rPr lang="ru-RU" dirty="0"/>
              <a:t>Функция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doubleCount</a:t>
            </a:r>
            <a:r>
              <a:rPr lang="ru-RU" dirty="0"/>
              <a:t> не запускается для вычисления своего значения до тех пор, пока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doubleCount</a:t>
            </a:r>
            <a:r>
              <a:rPr lang="ru-RU" dirty="0"/>
              <a:t> не будет прочитан в первый раз. То есть, до тех пор пока мы не вызовем этот сигнал/функцию.</a:t>
            </a:r>
          </a:p>
          <a:p>
            <a:pPr marL="0" indent="0">
              <a:buNone/>
            </a:pPr>
            <a:r>
              <a:rPr lang="ru-RU" dirty="0"/>
              <a:t>После вычисления это значение кэшируется, и последующие чтения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doubleCount</a:t>
            </a:r>
            <a:r>
              <a:rPr lang="ru-RU" dirty="0"/>
              <a:t> будут возвращать кэшированное значение без пересчета.</a:t>
            </a:r>
          </a:p>
          <a:p>
            <a:pPr marL="0" indent="0">
              <a:buNone/>
            </a:pPr>
            <a:r>
              <a:rPr lang="ru-RU" dirty="0"/>
              <a:t>Когда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count</a:t>
            </a:r>
            <a:r>
              <a:rPr lang="ru-RU" dirty="0"/>
              <a:t> изменяется, он сообщает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doubleCount</a:t>
            </a:r>
            <a:r>
              <a:rPr lang="ru-RU" dirty="0"/>
              <a:t>, что его кэшированное значение больше не действительно, и значение пересчитывается только при следующем чтении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doubleCount</a:t>
            </a:r>
            <a:r>
              <a:rPr lang="ru-RU" dirty="0"/>
              <a:t>.</a:t>
            </a:r>
            <a:endParaRPr lang="en-US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79B154-7D66-41D3-97B2-CAFF1250A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51" y="1928500"/>
            <a:ext cx="58102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2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Зависимости для </a:t>
            </a:r>
            <a:r>
              <a:rPr lang="en-US" dirty="0"/>
              <a:t>Computed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Отслеживаются только те сигналы, которые действительно считываются во время вычисления. </a:t>
            </a:r>
          </a:p>
          <a:p>
            <a:pPr marL="0" indent="0">
              <a:buNone/>
            </a:pPr>
            <a:r>
              <a:rPr lang="ru-RU" dirty="0"/>
              <a:t>Например, в этом вычисляемом сигнале,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count</a:t>
            </a:r>
            <a:r>
              <a:rPr lang="ru-RU" dirty="0"/>
              <a:t> используется только в том случае, когда сигнал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showCount</a:t>
            </a:r>
            <a:r>
              <a:rPr lang="ru-RU" dirty="0"/>
              <a:t> принимает значение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true</a:t>
            </a:r>
            <a:r>
              <a:rPr lang="ru-RU" dirty="0"/>
              <a:t>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B1A84F-5922-47EA-9080-6A921F2C7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89" y="2077964"/>
            <a:ext cx="4962971" cy="331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7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Эффекты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effectLst/>
              </a:rPr>
              <a:t>Эффект</a:t>
            </a:r>
            <a:r>
              <a:rPr lang="ru-RU" dirty="0"/>
              <a:t> — это операция, которая выполняется всякий раз, когда одно или несколько значений сигнала изменяются.  </a:t>
            </a:r>
          </a:p>
          <a:p>
            <a:pPr marL="0" indent="0">
              <a:buNone/>
            </a:pPr>
            <a:r>
              <a:rPr lang="ru-RU" dirty="0"/>
              <a:t>Создается эффект с помощью функции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effect</a:t>
            </a:r>
            <a:r>
              <a:rPr lang="ru-RU" dirty="0"/>
              <a:t>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Эффекты всегда запускаются </a:t>
            </a:r>
            <a:r>
              <a:rPr lang="ru-RU" b="1" dirty="0"/>
              <a:t>по крайней мере один раз.</a:t>
            </a:r>
            <a:r>
              <a:rPr lang="ru-RU" dirty="0"/>
              <a:t> Когда эффект запускается, он отслеживает все сигналы, которые он использует. Когда любое из этих значений сигнала изменяется, эффект запускается снова.</a:t>
            </a:r>
          </a:p>
          <a:p>
            <a:pPr marL="0" indent="0">
              <a:buNone/>
            </a:pPr>
            <a:r>
              <a:rPr lang="ru-RU" b="1" dirty="0"/>
              <a:t>Применение эффектов:</a:t>
            </a:r>
          </a:p>
          <a:p>
            <a:r>
              <a:rPr lang="ru-RU" dirty="0"/>
              <a:t>Логирование данных</a:t>
            </a:r>
          </a:p>
          <a:p>
            <a:r>
              <a:rPr lang="ru-RU" dirty="0"/>
              <a:t>Синхронизация данных с </a:t>
            </a:r>
            <a:r>
              <a:rPr lang="en-US" dirty="0" err="1"/>
              <a:t>localStorage</a:t>
            </a:r>
            <a:endParaRPr lang="en-US" dirty="0"/>
          </a:p>
          <a:p>
            <a:r>
              <a:rPr lang="ru-RU" dirty="0"/>
              <a:t>Добавление </a:t>
            </a:r>
            <a:r>
              <a:rPr lang="ru-RU" dirty="0" err="1"/>
              <a:t>кастомого</a:t>
            </a:r>
            <a:r>
              <a:rPr lang="ru-RU" dirty="0"/>
              <a:t> поведения DOM, которое не получилось бы реализовать в шаблоне.  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>
                <a:effectLst/>
              </a:rPr>
              <a:t>Когда не следует использовать эффекты</a:t>
            </a:r>
          </a:p>
          <a:p>
            <a:pPr marL="0" indent="0">
              <a:buNone/>
            </a:pPr>
            <a:r>
              <a:rPr lang="ru-RU" dirty="0"/>
              <a:t>Избегайте использования эффектов для распространения изменений состояния.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8F095-E24B-49EA-86D4-8EB611DDC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358" y="1723134"/>
            <a:ext cx="6837284" cy="13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1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 инъекции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 умолчанию для регистрации нового эффекта с помощью функции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effect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()</a:t>
            </a:r>
            <a:r>
              <a:rPr lang="ru-RU" dirty="0"/>
              <a:t> требуется "контекст инъекции" (доступ к функции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inject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					ИЛИ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8A42C-D5FD-4BB6-BE08-8483EE8E1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65" y="1245350"/>
            <a:ext cx="5189301" cy="2988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CABFAC-BE0E-4FC8-9843-1646171E0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090" y="4586176"/>
            <a:ext cx="5123649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1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 инъекции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Чтобы создать эффект вне конструктора, вы можете передать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Injector</a:t>
            </a:r>
            <a:r>
              <a:rPr lang="ru-RU" dirty="0"/>
              <a:t> в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effect</a:t>
            </a:r>
            <a:r>
              <a:rPr lang="ru-RU" dirty="0"/>
              <a:t> через его опции: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FDFAF-69EF-49BE-9768-FD82B1610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65" y="1221098"/>
            <a:ext cx="6397888" cy="523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4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Уничтожение эффектов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Когда вы создаете эффект, он автоматически уничтожается, когда уничтожается его объемлющий контекст. Это означает, что эффекты, созданные внутри компонентов, уничтожаются при уничтожении компонента. То же самое относится к эффектам внутри директив, сервисов и т.д.</a:t>
            </a:r>
          </a:p>
          <a:p>
            <a:pPr marL="0" indent="0">
              <a:buNone/>
            </a:pPr>
            <a:r>
              <a:rPr lang="ru-RU" dirty="0"/>
              <a:t>Эффекты возвращают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EffectRef</a:t>
            </a:r>
            <a:r>
              <a:rPr lang="ru-RU" dirty="0"/>
              <a:t>, который можно использовать для их уничтожения вручную, с помощью операции 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.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destroy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()</a:t>
            </a:r>
            <a:r>
              <a:rPr lang="ru-RU" dirty="0"/>
              <a:t>. Вы можете совместить это с опцией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manualCleanup</a:t>
            </a:r>
            <a:r>
              <a:rPr lang="ru-RU" dirty="0"/>
              <a:t>, чтобы создать эффект, который будет действовать до тех пор, пока его не уничтожат вручную.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5132A-AD74-4DA0-B2B1-454AED1B2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818" y="2693305"/>
            <a:ext cx="6339021" cy="383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Дополнительно. Равенство сигналов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 создании сигнала вы можете опционально указать функцию равенства, которая будет использоваться для проверки того, действительно ли новое значение отличается от предыдущего.</a:t>
            </a:r>
          </a:p>
          <a:p>
            <a:pPr marL="0" indent="0">
              <a:buNone/>
            </a:pPr>
            <a:r>
              <a:rPr lang="ru-RU" dirty="0"/>
              <a:t>По умолчанию, сигналы используют </a:t>
            </a:r>
            <a:r>
              <a:rPr lang="ru-RU" b="1" dirty="0">
                <a:solidFill>
                  <a:srgbClr val="EB5757"/>
                </a:solidFill>
                <a:effectLst/>
                <a:latin typeface="SFMono-Regular"/>
                <a:hlinkClick r:id="rId2"/>
              </a:rPr>
              <a:t>Object.is()</a:t>
            </a:r>
            <a:r>
              <a:rPr lang="ru-RU" dirty="0"/>
              <a:t> для проверки на равенство.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8080A-913D-498F-81AC-F0F6CCE52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205" y="1786702"/>
            <a:ext cx="7607589" cy="484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4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Дополнительно. Чтение без отслеживания зависимостей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редких случаях вы можете захотеть выполнить код, который может читать сигналы в реактивной функции, такой как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computed</a:t>
            </a:r>
            <a:r>
              <a:rPr lang="ru-RU" dirty="0"/>
              <a:t> или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effect</a:t>
            </a:r>
            <a:r>
              <a:rPr lang="ru-RU" dirty="0"/>
              <a:t>, </a:t>
            </a:r>
            <a:r>
              <a:rPr lang="ru-RU" i="1" dirty="0">
                <a:effectLst/>
              </a:rPr>
              <a:t>без</a:t>
            </a:r>
            <a:r>
              <a:rPr lang="ru-RU" dirty="0"/>
              <a:t> создания зависимости.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Например, предположим, что когда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currentUser</a:t>
            </a:r>
            <a:r>
              <a:rPr lang="ru-RU" dirty="0"/>
              <a:t> меняется, значение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counter</a:t>
            </a:r>
            <a:r>
              <a:rPr lang="ru-RU" dirty="0"/>
              <a:t> должно быть зарегистрировано. Мы можем создать 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effect</a:t>
            </a:r>
            <a:r>
              <a:rPr lang="ru-RU" dirty="0"/>
              <a:t>, который считывает оба сигнала: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Этот пример выводит сообщение, когда изменяется либо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currentUser</a:t>
            </a:r>
            <a:r>
              <a:rPr lang="ru-RU" dirty="0"/>
              <a:t>, либо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counter</a:t>
            </a:r>
            <a:r>
              <a:rPr lang="ru-RU" dirty="0"/>
              <a:t>. Однако, если эффект должен выполняться только при изменении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currentUser</a:t>
            </a:r>
            <a:r>
              <a:rPr lang="ru-RU" dirty="0"/>
              <a:t>, то чтение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counter</a:t>
            </a:r>
            <a:r>
              <a:rPr lang="ru-RU" dirty="0"/>
              <a:t> является случайным и изменения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counter</a:t>
            </a:r>
            <a:r>
              <a:rPr lang="ru-RU" dirty="0"/>
              <a:t> не должны регистрировать новое сообщение.</a:t>
            </a:r>
          </a:p>
          <a:p>
            <a:pPr marL="0" indent="0">
              <a:buNone/>
            </a:pPr>
            <a:r>
              <a:rPr lang="ru-RU" dirty="0"/>
              <a:t>Вы можете предотвратить отслеживание чтения сигнала, вызвав его </a:t>
            </a:r>
            <a:r>
              <a:rPr lang="en-US" dirty="0"/>
              <a:t>getter</a:t>
            </a:r>
            <a:r>
              <a:rPr lang="ru-RU" dirty="0"/>
              <a:t> с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untracked</a:t>
            </a:r>
            <a:r>
              <a:rPr lang="ru-RU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EA9BD-A2C6-44CF-91AA-C56C86FAF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52" y="2696376"/>
            <a:ext cx="6524625" cy="95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24AE68-9A6D-4AEF-9804-729FFB58D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91" y="5484975"/>
            <a:ext cx="75342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25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Дополнительно. Чтение без отслеживания зависимостей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untracked</a:t>
            </a:r>
            <a:r>
              <a:rPr lang="ru-RU" dirty="0"/>
              <a:t> также полезен, когда эффект должен вызвать внешний код, который не должен рассматриваться как зависимость: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C6772-BF27-4068-8FEC-1611E21AA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325" y="1909540"/>
            <a:ext cx="9163350" cy="26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61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Дополнительно. Функции очистки эффектов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Эффекты могут запускать длительные операции, которые должны быть отменены, если эффект уничтожен или запущен снова до завершения первой операции. Когда вы создаете эффект, ваша функция может опционально принимать функцию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onCleanup</a:t>
            </a:r>
            <a:r>
              <a:rPr lang="ru-RU" dirty="0"/>
              <a:t> в качестве первого параметра. Эта функция </a:t>
            </a:r>
            <a:r>
              <a:rPr lang="ru-RU" dirty="0" err="1">
                <a:solidFill>
                  <a:srgbClr val="EB5757"/>
                </a:solidFill>
                <a:effectLst/>
                <a:latin typeface="SFMono-Regular"/>
              </a:rPr>
              <a:t>onCleanup</a:t>
            </a:r>
            <a:r>
              <a:rPr lang="ru-RU" dirty="0"/>
              <a:t> позволяет вам зарегистрировать </a:t>
            </a:r>
            <a:r>
              <a:rPr lang="ru-RU" dirty="0" err="1"/>
              <a:t>кjлбек</a:t>
            </a:r>
            <a:r>
              <a:rPr lang="ru-RU" dirty="0"/>
              <a:t>, который будет вызван перед началом следующего запуска эффекта или когда эффект будет уничтожен.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BFA8F-EEFA-489F-951D-483FC6CCF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73" y="2366289"/>
            <a:ext cx="40386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25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сигналов в нескольких компонентах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2B9E34-BC5F-449B-8136-0CABD2CE2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9413" y="887895"/>
            <a:ext cx="6946418" cy="5680079"/>
          </a:xfrm>
        </p:spPr>
      </p:pic>
    </p:spTree>
    <p:extLst>
      <p:ext uri="{BB962C8B-B14F-4D97-AF65-F5344CB8AC3E}">
        <p14:creationId xmlns:p14="http://schemas.microsoft.com/office/powerpoint/2010/main" val="357804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RxJS</a:t>
            </a:r>
            <a:r>
              <a:rPr lang="en-US" dirty="0"/>
              <a:t> vs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Signal</a:t>
            </a:r>
            <a:endParaRPr lang="ru-RU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Простота использования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Производительность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Интеграция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 err="1"/>
              <a:t>RxJS</a:t>
            </a:r>
            <a:endParaRPr lang="ru-RU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Гибкость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Широкая поддержка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Сложность обучения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4CEF5-45E6-48CC-AE97-8830DFEAF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400" y="887808"/>
            <a:ext cx="5038906" cy="1854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0C846-80B2-49F5-AE23-E112D09D5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798" y="3628624"/>
            <a:ext cx="5042508" cy="214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83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897-8832-40E9-8CD9-D8E78FB4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" y="97794"/>
            <a:ext cx="12019254" cy="513785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Преимущества и недостатки использования </a:t>
            </a:r>
            <a:r>
              <a:rPr lang="ru-RU" dirty="0" err="1">
                <a:effectLst/>
              </a:rPr>
              <a:t>Signal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9DE5-32C0-439C-A252-FA3BE69EC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2" y="726116"/>
            <a:ext cx="11852999" cy="62045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Преимущества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Производительность</a:t>
            </a:r>
            <a:r>
              <a:rPr lang="ru-RU" dirty="0"/>
              <a:t>: Оптимизация обновления DOM за счет отслеживания изменений на уровне </a:t>
            </a:r>
            <a:r>
              <a:rPr lang="ru-RU" dirty="0" err="1"/>
              <a:t>Signal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Простота</a:t>
            </a:r>
            <a:r>
              <a:rPr lang="ru-RU" dirty="0"/>
              <a:t>: Более простой и понятный синтаксис по сравнению с </a:t>
            </a:r>
            <a:r>
              <a:rPr lang="ru-RU" dirty="0" err="1"/>
              <a:t>RxJS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Интеграция с </a:t>
            </a:r>
            <a:r>
              <a:rPr lang="ru-RU" b="1" dirty="0" err="1"/>
              <a:t>Angular</a:t>
            </a:r>
            <a:r>
              <a:rPr lang="ru-RU" dirty="0"/>
              <a:t>: Лучшая интеграция с механизмами отслеживания изменений в </a:t>
            </a:r>
            <a:r>
              <a:rPr lang="ru-RU" dirty="0" err="1"/>
              <a:t>Angular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Недостатки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Ограниченная гибкость</a:t>
            </a:r>
            <a:r>
              <a:rPr lang="ru-RU" dirty="0"/>
              <a:t>: </a:t>
            </a:r>
            <a:r>
              <a:rPr lang="ru-RU" dirty="0" err="1"/>
              <a:t>Signal</a:t>
            </a:r>
            <a:r>
              <a:rPr lang="ru-RU" dirty="0"/>
              <a:t> менее гибок по сравнению с </a:t>
            </a:r>
            <a:r>
              <a:rPr lang="ru-RU" dirty="0" err="1"/>
              <a:t>RxJS</a:t>
            </a:r>
            <a:r>
              <a:rPr lang="ru-RU" dirty="0"/>
              <a:t>, особенно для сложных реактивных сценариев.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Меньшая экосистема</a:t>
            </a:r>
            <a:r>
              <a:rPr lang="ru-RU" dirty="0"/>
              <a:t>: </a:t>
            </a:r>
            <a:r>
              <a:rPr lang="ru-RU" dirty="0" err="1"/>
              <a:t>Signal</a:t>
            </a:r>
            <a:r>
              <a:rPr lang="ru-RU" dirty="0"/>
              <a:t> новее и имеет меньшую экосистему по сравнению с </a:t>
            </a:r>
            <a:r>
              <a:rPr lang="ru-RU" dirty="0" err="1"/>
              <a:t>RxJS</a:t>
            </a:r>
            <a:r>
              <a:rPr lang="ru-RU" dirty="0"/>
              <a:t>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Обучение</a:t>
            </a:r>
            <a:r>
              <a:rPr lang="ru-RU" dirty="0"/>
              <a:t>: Переход с </a:t>
            </a:r>
            <a:r>
              <a:rPr lang="ru-RU" dirty="0" err="1"/>
              <a:t>RxJS</a:t>
            </a:r>
            <a:r>
              <a:rPr lang="ru-RU" dirty="0"/>
              <a:t> на </a:t>
            </a:r>
            <a:r>
              <a:rPr lang="ru-RU" dirty="0" err="1"/>
              <a:t>Signal</a:t>
            </a:r>
            <a:r>
              <a:rPr lang="ru-RU" dirty="0"/>
              <a:t> требует изучения новых концепций и подходов.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471999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{FDE4013B-91DF-4223-9A94-172D9A9FC53A}tf10001115</Template>
  <TotalTime>224</TotalTime>
  <Words>898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Cascadia Code SemiLight</vt:lpstr>
      <vt:lpstr>Corbel</vt:lpstr>
      <vt:lpstr>Gill Sans MT</vt:lpstr>
      <vt:lpstr>SFMono-Regular</vt:lpstr>
      <vt:lpstr>Parcel</vt:lpstr>
      <vt:lpstr>28. Signals</vt:lpstr>
      <vt:lpstr>Signal</vt:lpstr>
      <vt:lpstr>writable signals</vt:lpstr>
      <vt:lpstr>Computed signals</vt:lpstr>
      <vt:lpstr>Зависимости для Computed signals</vt:lpstr>
      <vt:lpstr>Эффекты</vt:lpstr>
      <vt:lpstr>Контекст инъекции</vt:lpstr>
      <vt:lpstr>Контекст инъекции</vt:lpstr>
      <vt:lpstr>Уничтожение эффектов</vt:lpstr>
      <vt:lpstr>Дополнительно. Равенство сигналов</vt:lpstr>
      <vt:lpstr>Дополнительно. Чтение без отслеживания зависимостей</vt:lpstr>
      <vt:lpstr>Дополнительно. Чтение без отслеживания зависимостей</vt:lpstr>
      <vt:lpstr>Дополнительно. Функции очистки эффектов</vt:lpstr>
      <vt:lpstr>Использование сигналов в нескольких компонентах</vt:lpstr>
      <vt:lpstr>RxJS vs Signal</vt:lpstr>
      <vt:lpstr>Преимущества и недостатки использования Signal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19. Фреймворки</dc:title>
  <dc:creator>roman</dc:creator>
  <cp:lastModifiedBy>roman</cp:lastModifiedBy>
  <cp:revision>90</cp:revision>
  <dcterms:created xsi:type="dcterms:W3CDTF">2023-12-01T13:45:14Z</dcterms:created>
  <dcterms:modified xsi:type="dcterms:W3CDTF">2025-02-07T16:29:53Z</dcterms:modified>
</cp:coreProperties>
</file>