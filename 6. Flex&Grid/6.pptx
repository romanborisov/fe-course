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96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4" r:id="rId19"/>
    <p:sldId id="276" r:id="rId20"/>
    <p:sldId id="278" r:id="rId21"/>
    <p:sldId id="275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3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10/10/2025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dirty="0"/>
              <a:t>10/10/2025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10/10/2025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dirty="0"/>
              <a:t>10/10/2025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dirty="0"/>
              <a:t>10/10/2025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dirty="0"/>
              <a:t>10/10/2025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10/10/2025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dirty="0"/>
              <a:t>10/10/2025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42B0DB6-F5C7-45FB-8CF3-31B45F9C2DAC}" type="datetimeFigureOut">
              <a:rPr lang="en-US" dirty="0"/>
              <a:t>10/10/2025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dirty="0"/>
              <a:t>10/10/2025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dirty="0"/>
              <a:t>10/10/2025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1160EA64-D806-43AC-9DF2-F8C432F32B4C}" type="datetimeFigureOut">
              <a:rPr lang="en-US" dirty="0"/>
              <a:t>10/10/2025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sldNum="0"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C8CB78-D737-44DA-9A28-C1C33E6C36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6</a:t>
            </a:r>
            <a:r>
              <a:rPr lang="en-US" dirty="0"/>
              <a:t>. Flexbox. grid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71BAD6-2E06-431C-8A57-D7837431A0F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29402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0E1F9-B8C8-4D29-B110-0477B7704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068" y="85918"/>
            <a:ext cx="11389863" cy="412845"/>
          </a:xfrm>
        </p:spPr>
        <p:txBody>
          <a:bodyPr>
            <a:normAutofit fontScale="90000"/>
          </a:bodyPr>
          <a:lstStyle/>
          <a:p>
            <a:r>
              <a:rPr lang="ru-RU" dirty="0"/>
              <a:t>Вёрстка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298753-E33D-4F62-AF44-DDB553E0A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1068" y="714242"/>
            <a:ext cx="11389862" cy="310198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b="1" dirty="0"/>
              <a:t>Верстка</a:t>
            </a:r>
            <a:r>
              <a:rPr lang="ru-RU" dirty="0"/>
              <a:t> — это описание визуальной части сайта с помощью гипертекстового документа на основе HTML-разметки. Простыми словами, соединение и расположение на странице документа разных элементов веб-сайта: текстовых блоков, изображений, таблиц, видео и т.д.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Подходы к вёрстке:</a:t>
            </a:r>
          </a:p>
          <a:p>
            <a:pPr>
              <a:buFont typeface="+mj-lt"/>
              <a:buAutoNum type="arabicPeriod"/>
            </a:pPr>
            <a:r>
              <a:rPr lang="ru-RU" dirty="0"/>
              <a:t>Табличный подход.</a:t>
            </a:r>
          </a:p>
          <a:p>
            <a:pPr>
              <a:buFont typeface="+mj-lt"/>
              <a:buAutoNum type="arabicPeriod"/>
            </a:pPr>
            <a:r>
              <a:rPr lang="ru-RU" dirty="0"/>
              <a:t>Вёрстка слоями.</a:t>
            </a:r>
          </a:p>
          <a:p>
            <a:pPr>
              <a:buFont typeface="+mj-lt"/>
              <a:buAutoNum type="arabicPeriod"/>
            </a:pPr>
            <a:r>
              <a:rPr lang="ru-RU" dirty="0"/>
              <a:t>Блочная вёрстка.</a:t>
            </a:r>
          </a:p>
          <a:p>
            <a:pPr>
              <a:buFont typeface="+mj-lt"/>
              <a:buAutoNum type="arabicPeriod"/>
            </a:pPr>
            <a:r>
              <a:rPr lang="ru-RU" dirty="0"/>
              <a:t>Вёрстка фреймами - верстка с помощью одноимённого тега &lt;</a:t>
            </a:r>
            <a:r>
              <a:rPr lang="ru-RU" dirty="0" err="1"/>
              <a:t>frame</a:t>
            </a:r>
            <a:r>
              <a:rPr lang="ru-RU" dirty="0"/>
              <a:t>&gt;.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68825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0E1F9-B8C8-4D29-B110-0477B7704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068" y="85918"/>
            <a:ext cx="11389863" cy="412845"/>
          </a:xfrm>
        </p:spPr>
        <p:txBody>
          <a:bodyPr>
            <a:normAutofit fontScale="90000"/>
          </a:bodyPr>
          <a:lstStyle/>
          <a:p>
            <a:r>
              <a:rPr lang="ru-RU" dirty="0"/>
              <a:t>Табличная вёрстка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D242A07-71D1-4117-A239-D33B911BE3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158" y="611579"/>
            <a:ext cx="3948400" cy="3954484"/>
          </a:xfrm>
          <a:prstGeom prst="rect">
            <a:avLst/>
          </a:prstGeom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32125C87-FB2B-476B-8A3C-2A0DE84BCC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6760" y="4678879"/>
            <a:ext cx="10669980" cy="19589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710745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0E1F9-B8C8-4D29-B110-0477B7704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068" y="85918"/>
            <a:ext cx="11389863" cy="412845"/>
          </a:xfrm>
        </p:spPr>
        <p:txBody>
          <a:bodyPr>
            <a:normAutofit fontScale="90000"/>
          </a:bodyPr>
          <a:lstStyle/>
          <a:p>
            <a:r>
              <a:rPr lang="ru-RU" dirty="0"/>
              <a:t>Примеры вёрстки таблицами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4AFC6F-D997-482A-B74D-FC59222943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0702" y="1068903"/>
            <a:ext cx="5789221" cy="5137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10101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0E1F9-B8C8-4D29-B110-0477B7704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068" y="85918"/>
            <a:ext cx="11389863" cy="412845"/>
          </a:xfrm>
        </p:spPr>
        <p:txBody>
          <a:bodyPr>
            <a:normAutofit fontScale="90000"/>
          </a:bodyPr>
          <a:lstStyle/>
          <a:p>
            <a:r>
              <a:rPr lang="ru-RU" dirty="0"/>
              <a:t>Примеры вёрстки таблицами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E976208-AC48-4DE0-9C09-D5468BD85A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3829" y="846271"/>
            <a:ext cx="5945850" cy="5165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1389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0E1F9-B8C8-4D29-B110-0477B7704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068" y="85918"/>
            <a:ext cx="11389863" cy="412845"/>
          </a:xfrm>
        </p:spPr>
        <p:txBody>
          <a:bodyPr>
            <a:normAutofit fontScale="90000"/>
          </a:bodyPr>
          <a:lstStyle/>
          <a:p>
            <a:r>
              <a:rPr lang="ru-RU" dirty="0"/>
              <a:t>Примеры вёрстки таблицами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62E49F-C119-4DA1-8A36-AD4538F25B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6087" y="1182708"/>
            <a:ext cx="7159826" cy="4802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56097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0E1F9-B8C8-4D29-B110-0477B7704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068" y="85918"/>
            <a:ext cx="11389863" cy="412845"/>
          </a:xfrm>
        </p:spPr>
        <p:txBody>
          <a:bodyPr>
            <a:normAutofit fontScale="90000"/>
          </a:bodyPr>
          <a:lstStyle/>
          <a:p>
            <a:r>
              <a:rPr lang="ru-RU" dirty="0"/>
              <a:t>Блочная вёрстка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3D2351D-D1DE-47A5-9F8E-0CC101B261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099" y="575953"/>
            <a:ext cx="3280504" cy="606235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8C904F9-BF2B-48EF-9721-14B14B3898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5802" y="924951"/>
            <a:ext cx="4240728" cy="5008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31947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0E1F9-B8C8-4D29-B110-0477B7704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068" y="85918"/>
            <a:ext cx="11389863" cy="412845"/>
          </a:xfrm>
        </p:spPr>
        <p:txBody>
          <a:bodyPr>
            <a:normAutofit fontScale="90000"/>
          </a:bodyPr>
          <a:lstStyle/>
          <a:p>
            <a:r>
              <a:rPr lang="en-US" dirty="0"/>
              <a:t>Flexbox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298753-E33D-4F62-AF44-DDB553E0A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1068" y="714243"/>
            <a:ext cx="11266438" cy="87705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b="1" dirty="0" err="1"/>
              <a:t>Flexbox</a:t>
            </a:r>
            <a:r>
              <a:rPr lang="ru-RU" b="1" dirty="0"/>
              <a:t> (или просто </a:t>
            </a:r>
            <a:r>
              <a:rPr lang="ru-RU" b="1" dirty="0" err="1"/>
              <a:t>flex</a:t>
            </a:r>
            <a:r>
              <a:rPr lang="ru-RU" b="1" dirty="0"/>
              <a:t>) </a:t>
            </a:r>
            <a:r>
              <a:rPr lang="ru-RU" dirty="0"/>
              <a:t>— это способ позиционирования элементов в CSS. С помощью этой функции можно быстро и легко описывать, как будет располагаться тот или иной блок на веб-странице. Элементы выстраиваются по заданной оси и автоматически распределяются согласно настройкам.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A18924-F41B-493B-B29F-16008B3E5B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068" y="2186792"/>
            <a:ext cx="4194256" cy="337086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AD318B7-F0A8-46E9-9DDC-0D05876925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4098" y="2595629"/>
            <a:ext cx="6105784" cy="2553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63770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0E1F9-B8C8-4D29-B110-0477B7704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068" y="85918"/>
            <a:ext cx="11389863" cy="412845"/>
          </a:xfrm>
        </p:spPr>
        <p:txBody>
          <a:bodyPr>
            <a:normAutofit fontScale="90000"/>
          </a:bodyPr>
          <a:lstStyle/>
          <a:p>
            <a:r>
              <a:rPr lang="ru-RU" dirty="0">
                <a:effectLst/>
              </a:rPr>
              <a:t>Устройство </a:t>
            </a:r>
            <a:r>
              <a:rPr lang="en-US" dirty="0">
                <a:effectLst/>
              </a:rPr>
              <a:t>flex-</a:t>
            </a:r>
            <a:r>
              <a:rPr lang="ru-RU" dirty="0">
                <a:effectLst/>
              </a:rPr>
              <a:t>контейнера. Направление осей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C7834E3-B5F2-465D-B100-D832063145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0829" y="2485609"/>
            <a:ext cx="8553450" cy="401002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CF0DCCC-8B71-42AB-AFAF-9DFDDDB14A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6115" y="558108"/>
            <a:ext cx="4016581" cy="1809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093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0E1F9-B8C8-4D29-B110-0477B7704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068" y="85918"/>
            <a:ext cx="11389863" cy="412845"/>
          </a:xfrm>
        </p:spPr>
        <p:txBody>
          <a:bodyPr>
            <a:normAutofit fontScale="90000"/>
          </a:bodyPr>
          <a:lstStyle/>
          <a:p>
            <a:r>
              <a:rPr lang="ru-RU" dirty="0">
                <a:effectLst/>
              </a:rPr>
              <a:t>Устройство </a:t>
            </a:r>
            <a:r>
              <a:rPr lang="en-US" dirty="0">
                <a:effectLst/>
              </a:rPr>
              <a:t>flex-</a:t>
            </a:r>
            <a:r>
              <a:rPr lang="ru-RU" dirty="0">
                <a:effectLst/>
              </a:rPr>
              <a:t>контейнера. Направление осей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0412BE8-6329-407A-B79E-247C3F8023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9324" y="2254641"/>
            <a:ext cx="4665299" cy="209766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6D3112D-13C0-4D90-8D89-815C2F30F6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4283" y="722757"/>
            <a:ext cx="2445699" cy="5871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9823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0E1F9-B8C8-4D29-B110-0477B7704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068" y="85918"/>
            <a:ext cx="11389863" cy="412845"/>
          </a:xfrm>
        </p:spPr>
        <p:txBody>
          <a:bodyPr>
            <a:normAutofit fontScale="90000"/>
          </a:bodyPr>
          <a:lstStyle/>
          <a:p>
            <a:r>
              <a:rPr lang="ru-RU" dirty="0">
                <a:effectLst/>
              </a:rPr>
              <a:t>Переполнение контейнера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DFFDBAC-B793-421D-8F3B-69EFF13E18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5475" y="1624012"/>
            <a:ext cx="9067800" cy="3114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4019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0E1F9-B8C8-4D29-B110-0477B7704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068" y="85918"/>
            <a:ext cx="11389863" cy="412845"/>
          </a:xfrm>
        </p:spPr>
        <p:txBody>
          <a:bodyPr>
            <a:normAutofit fontScale="90000"/>
          </a:bodyPr>
          <a:lstStyle/>
          <a:p>
            <a:r>
              <a:rPr lang="ru-RU" dirty="0">
                <a:effectLst/>
              </a:rPr>
              <a:t>Переполнение контейнера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576968-F346-4179-8306-4DD946DEAF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599" y="669549"/>
            <a:ext cx="7524750" cy="15144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1D3AF5D-37A9-4E16-AE4F-D20F144237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8974" y="2259561"/>
            <a:ext cx="6229351" cy="4367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28460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0E1F9-B8C8-4D29-B110-0477B7704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068" y="85918"/>
            <a:ext cx="11389863" cy="412845"/>
          </a:xfrm>
        </p:spPr>
        <p:txBody>
          <a:bodyPr>
            <a:normAutofit fontScale="90000"/>
          </a:bodyPr>
          <a:lstStyle/>
          <a:p>
            <a:r>
              <a:rPr lang="ru-RU" dirty="0">
                <a:effectLst/>
              </a:rPr>
              <a:t>Выравнивание </a:t>
            </a:r>
            <a:r>
              <a:rPr lang="en-US" dirty="0">
                <a:effectLst/>
              </a:rPr>
              <a:t>flex-</a:t>
            </a:r>
            <a:r>
              <a:rPr lang="ru-RU" dirty="0">
                <a:effectLst/>
              </a:rPr>
              <a:t>элементов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E1F1B98-53AF-4240-AC31-C527F0F259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9812" y="2052637"/>
            <a:ext cx="7896225" cy="2752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19953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0E1F9-B8C8-4D29-B110-0477B7704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068" y="25305"/>
            <a:ext cx="11389863" cy="412845"/>
          </a:xfrm>
        </p:spPr>
        <p:txBody>
          <a:bodyPr>
            <a:normAutofit fontScale="90000"/>
          </a:bodyPr>
          <a:lstStyle/>
          <a:p>
            <a:r>
              <a:rPr lang="ru-RU" dirty="0">
                <a:effectLst/>
              </a:rPr>
              <a:t>Выравнивание </a:t>
            </a:r>
            <a:r>
              <a:rPr lang="en-US" dirty="0">
                <a:effectLst/>
              </a:rPr>
              <a:t>flex-</a:t>
            </a:r>
            <a:r>
              <a:rPr lang="ru-RU" dirty="0">
                <a:effectLst/>
              </a:rPr>
              <a:t>элементов</a:t>
            </a:r>
            <a:r>
              <a:rPr lang="en-US" dirty="0">
                <a:effectLst/>
              </a:rPr>
              <a:t> </a:t>
            </a:r>
            <a:r>
              <a:rPr lang="ru-RU" dirty="0">
                <a:effectLst/>
              </a:rPr>
              <a:t>по основной оси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FC5F9EC-3A6F-4619-B628-A899DA0803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1870" y="847725"/>
            <a:ext cx="4414361" cy="5572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43230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0E1F9-B8C8-4D29-B110-0477B7704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068" y="25305"/>
            <a:ext cx="11389863" cy="412845"/>
          </a:xfrm>
        </p:spPr>
        <p:txBody>
          <a:bodyPr>
            <a:normAutofit fontScale="90000"/>
          </a:bodyPr>
          <a:lstStyle/>
          <a:p>
            <a:r>
              <a:rPr lang="ru-RU" dirty="0">
                <a:effectLst/>
              </a:rPr>
              <a:t>Выравнивание </a:t>
            </a:r>
            <a:r>
              <a:rPr lang="en-US" dirty="0">
                <a:effectLst/>
              </a:rPr>
              <a:t>flex-</a:t>
            </a:r>
            <a:r>
              <a:rPr lang="ru-RU" dirty="0">
                <a:effectLst/>
              </a:rPr>
              <a:t>элементов</a:t>
            </a:r>
            <a:r>
              <a:rPr lang="en-US" dirty="0">
                <a:effectLst/>
              </a:rPr>
              <a:t> </a:t>
            </a:r>
            <a:r>
              <a:rPr lang="ru-RU" dirty="0">
                <a:effectLst/>
              </a:rPr>
              <a:t>по поперечной оси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C7BEDA-F78C-4569-940F-E3B2677503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636" y="506256"/>
            <a:ext cx="8365847" cy="208454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2D28163-A2FB-4B4E-BCF0-E58E926E5D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636" y="2658906"/>
            <a:ext cx="6167439" cy="315209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0BD3210-F955-4E3A-903D-2883B90D33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6075" y="2786063"/>
            <a:ext cx="5109567" cy="380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25155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0E1F9-B8C8-4D29-B110-0477B7704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068" y="85918"/>
            <a:ext cx="11389863" cy="412845"/>
          </a:xfrm>
        </p:spPr>
        <p:txBody>
          <a:bodyPr>
            <a:normAutofit fontScale="90000"/>
          </a:bodyPr>
          <a:lstStyle/>
          <a:p>
            <a:r>
              <a:rPr lang="en-US" dirty="0"/>
              <a:t>Grid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298753-E33D-4F62-AF44-DDB553E0A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1067" y="714242"/>
            <a:ext cx="11389863" cy="5144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1" dirty="0"/>
              <a:t>CSS Grid </a:t>
            </a:r>
            <a:r>
              <a:rPr lang="ru-RU" b="1" dirty="0" err="1"/>
              <a:t>Layout</a:t>
            </a:r>
            <a:r>
              <a:rPr lang="ru-RU" b="1" dirty="0"/>
              <a:t> или просто </a:t>
            </a:r>
            <a:r>
              <a:rPr lang="ru-RU" b="1" dirty="0" err="1"/>
              <a:t>гриды</a:t>
            </a:r>
            <a:r>
              <a:rPr lang="ru-RU" b="1" dirty="0"/>
              <a:t> </a:t>
            </a:r>
            <a:r>
              <a:rPr lang="ru-RU" dirty="0"/>
              <a:t>— это удобная технология для раскладки элементов на веб-страницах.</a:t>
            </a:r>
            <a:endParaRPr lang="en-US" dirty="0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2E5AF137-E258-4D73-8534-14F030C42C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00263" y="1471746"/>
            <a:ext cx="7334276" cy="46720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56468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0E1F9-B8C8-4D29-B110-0477B7704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068" y="85918"/>
            <a:ext cx="11389863" cy="412845"/>
          </a:xfrm>
        </p:spPr>
        <p:txBody>
          <a:bodyPr>
            <a:normAutofit fontScale="90000"/>
          </a:bodyPr>
          <a:lstStyle/>
          <a:p>
            <a:r>
              <a:rPr lang="en-US" dirty="0"/>
              <a:t>Grid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298753-E33D-4F62-AF44-DDB553E0A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636879"/>
            <a:ext cx="8286750" cy="149672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1" dirty="0" err="1">
                <a:effectLst/>
              </a:rPr>
              <a:t>Грид</a:t>
            </a:r>
            <a:r>
              <a:rPr lang="ru-RU" b="1" dirty="0">
                <a:effectLst/>
              </a:rPr>
              <a:t>-линия</a:t>
            </a:r>
            <a:r>
              <a:rPr lang="ru-RU" dirty="0">
                <a:effectLst/>
              </a:rPr>
              <a:t>: разделительная линия, формирующая структуру </a:t>
            </a:r>
            <a:r>
              <a:rPr lang="ru-RU" dirty="0" err="1">
                <a:effectLst/>
              </a:rPr>
              <a:t>грида</a:t>
            </a:r>
            <a:r>
              <a:rPr lang="ru-RU" dirty="0">
                <a:effectLst/>
              </a:rPr>
              <a:t>. Может быть как вертикальной (</a:t>
            </a:r>
            <a:r>
              <a:rPr lang="ru-RU" dirty="0" err="1">
                <a:effectLst/>
              </a:rPr>
              <a:t>грид</a:t>
            </a:r>
            <a:r>
              <a:rPr lang="ru-RU" dirty="0">
                <a:effectLst/>
              </a:rPr>
              <a:t>-линия колонки), так и горизонтальной (</a:t>
            </a:r>
            <a:r>
              <a:rPr lang="ru-RU" dirty="0" err="1">
                <a:effectLst/>
              </a:rPr>
              <a:t>грид</a:t>
            </a:r>
            <a:r>
              <a:rPr lang="ru-RU" dirty="0">
                <a:effectLst/>
              </a:rPr>
              <a:t>-линия ряда). Располагается по обе стороны от колонки или ряда. Используется для привязки </a:t>
            </a:r>
            <a:r>
              <a:rPr lang="ru-RU" dirty="0" err="1">
                <a:effectLst/>
              </a:rPr>
              <a:t>грид</a:t>
            </a:r>
            <a:r>
              <a:rPr lang="ru-RU" dirty="0">
                <a:effectLst/>
              </a:rPr>
              <a:t>-элементов. На скрине синяя линия — </a:t>
            </a:r>
            <a:r>
              <a:rPr lang="ru-RU" dirty="0" err="1">
                <a:effectLst/>
              </a:rPr>
              <a:t>грид</a:t>
            </a:r>
            <a:r>
              <a:rPr lang="ru-RU" dirty="0">
                <a:effectLst/>
              </a:rPr>
              <a:t>-линия колонки.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7CA0E6-B94E-4A00-94F0-7EA06B9D9C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6821" y="722603"/>
            <a:ext cx="2532739" cy="205869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7A782EF-8209-486B-9D17-A238E6914F1C}"/>
              </a:ext>
            </a:extLst>
          </p:cNvPr>
          <p:cNvSpPr txBox="1"/>
          <p:nvPr/>
        </p:nvSpPr>
        <p:spPr>
          <a:xfrm>
            <a:off x="466725" y="2319635"/>
            <a:ext cx="425767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 err="1">
                <a:effectLst/>
              </a:rPr>
              <a:t>Грид</a:t>
            </a:r>
            <a:r>
              <a:rPr lang="ru-RU" b="1" dirty="0">
                <a:effectLst/>
              </a:rPr>
              <a:t>-ячейка</a:t>
            </a:r>
            <a:r>
              <a:rPr lang="ru-RU" dirty="0">
                <a:effectLst/>
              </a:rPr>
              <a:t>: пространство между соседними </a:t>
            </a:r>
            <a:r>
              <a:rPr lang="ru-RU" dirty="0" err="1">
                <a:effectLst/>
              </a:rPr>
              <a:t>грид</a:t>
            </a:r>
            <a:r>
              <a:rPr lang="ru-RU" dirty="0">
                <a:effectLst/>
              </a:rPr>
              <a:t>-линиями. Единица </a:t>
            </a:r>
            <a:r>
              <a:rPr lang="ru-RU" dirty="0" err="1">
                <a:effectLst/>
              </a:rPr>
              <a:t>грид</a:t>
            </a:r>
            <a:r>
              <a:rPr lang="ru-RU" dirty="0">
                <a:effectLst/>
              </a:rPr>
              <a:t>-сетки. </a:t>
            </a:r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ECC910A-A176-45E5-883F-C05F25B4D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8636" y="2271716"/>
            <a:ext cx="3362325" cy="241935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DD3E52F-25F2-4679-8C24-EEF1DE179850}"/>
              </a:ext>
            </a:extLst>
          </p:cNvPr>
          <p:cNvSpPr txBox="1"/>
          <p:nvPr/>
        </p:nvSpPr>
        <p:spPr>
          <a:xfrm>
            <a:off x="400050" y="5077122"/>
            <a:ext cx="95059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 err="1">
                <a:effectLst/>
              </a:rPr>
              <a:t>Грид</a:t>
            </a:r>
            <a:r>
              <a:rPr lang="ru-RU" b="1" dirty="0">
                <a:effectLst/>
              </a:rPr>
              <a:t>-полоса</a:t>
            </a:r>
            <a:r>
              <a:rPr lang="ru-RU" dirty="0">
                <a:effectLst/>
              </a:rPr>
              <a:t>: пространство между двумя соседними </a:t>
            </a:r>
            <a:r>
              <a:rPr lang="ru-RU" dirty="0" err="1">
                <a:effectLst/>
              </a:rPr>
              <a:t>грид</a:t>
            </a:r>
            <a:r>
              <a:rPr lang="ru-RU" dirty="0">
                <a:effectLst/>
              </a:rPr>
              <a:t>-линиями. Может быть проще думать о </a:t>
            </a:r>
            <a:r>
              <a:rPr lang="ru-RU" dirty="0" err="1">
                <a:effectLst/>
              </a:rPr>
              <a:t>грид</a:t>
            </a:r>
            <a:r>
              <a:rPr lang="ru-RU" dirty="0">
                <a:effectLst/>
              </a:rPr>
              <a:t>-полосе как о ряде или колонке.</a:t>
            </a:r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5D5D24C-DC88-47B8-803B-85A61C8087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2012" y="4919370"/>
            <a:ext cx="2248919" cy="1608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1308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0E1F9-B8C8-4D29-B110-0477B7704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068" y="85918"/>
            <a:ext cx="11389863" cy="412845"/>
          </a:xfrm>
        </p:spPr>
        <p:txBody>
          <a:bodyPr>
            <a:normAutofit fontScale="90000"/>
          </a:bodyPr>
          <a:lstStyle/>
          <a:p>
            <a:r>
              <a:rPr lang="en-US" dirty="0"/>
              <a:t>Grid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BA71BE-2E14-4B58-AD59-862FE9C1776F}"/>
              </a:ext>
            </a:extLst>
          </p:cNvPr>
          <p:cNvSpPr txBox="1"/>
          <p:nvPr/>
        </p:nvSpPr>
        <p:spPr>
          <a:xfrm>
            <a:off x="401068" y="1231242"/>
            <a:ext cx="59245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rgbClr val="FF0000"/>
                </a:solidFill>
              </a:rPr>
              <a:t>display: grid;  </a:t>
            </a:r>
            <a:r>
              <a:rPr lang="en-US" dirty="0"/>
              <a:t>- </a:t>
            </a:r>
            <a:r>
              <a:rPr lang="ru-RU" dirty="0"/>
              <a:t>создание контейнера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A3BF089-F01A-44BE-9BF4-BFF2DB70ED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4362" y="643311"/>
            <a:ext cx="4600575" cy="191452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1580A0A-96DC-48FF-ABB0-BDC548AE669B}"/>
              </a:ext>
            </a:extLst>
          </p:cNvPr>
          <p:cNvSpPr txBox="1"/>
          <p:nvPr/>
        </p:nvSpPr>
        <p:spPr>
          <a:xfrm>
            <a:off x="401068" y="3587825"/>
            <a:ext cx="19135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rgbClr val="FF0000"/>
                </a:solidFill>
              </a:rPr>
              <a:t>display: inline-grid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55792F9F-209B-47C9-9E9F-84A749033E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1318" y="3089264"/>
            <a:ext cx="1924050" cy="167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50879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F1832BE-C265-44DB-81FB-98F3D4E3D9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367" y="257550"/>
            <a:ext cx="3427983" cy="179085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FA5557F-F092-4039-9E71-35EF2B23FD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367" y="2336021"/>
            <a:ext cx="7912047" cy="439777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1551BCD-A26B-4713-A794-3F9757019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5308" y="1152976"/>
            <a:ext cx="2981325" cy="350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58132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0E1F9-B8C8-4D29-B110-0477B7704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068" y="85918"/>
            <a:ext cx="11389863" cy="412845"/>
          </a:xfrm>
        </p:spPr>
        <p:txBody>
          <a:bodyPr>
            <a:normAutofit fontScale="90000"/>
          </a:bodyPr>
          <a:lstStyle/>
          <a:p>
            <a:r>
              <a:rPr lang="en-US" dirty="0"/>
              <a:t>Repeat</a:t>
            </a:r>
          </a:p>
        </p:txBody>
      </p:sp>
      <p:graphicFrame>
        <p:nvGraphicFramePr>
          <p:cNvPr id="3" name="Table 3">
            <a:extLst>
              <a:ext uri="{FF2B5EF4-FFF2-40B4-BE49-F238E27FC236}">
                <a16:creationId xmlns:a16="http://schemas.microsoft.com/office/drawing/2014/main" id="{EF7D87CF-6E69-4693-B4CA-99465A5DBF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79640"/>
              </p:ext>
            </p:extLst>
          </p:nvPr>
        </p:nvGraphicFramePr>
        <p:xfrm>
          <a:off x="401068" y="2480734"/>
          <a:ext cx="8128000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7333">
                  <a:extLst>
                    <a:ext uri="{9D8B030D-6E8A-4147-A177-3AD203B41FA5}">
                      <a16:colId xmlns:a16="http://schemas.microsoft.com/office/drawing/2014/main" val="3458598897"/>
                    </a:ext>
                  </a:extLst>
                </a:gridCol>
                <a:gridCol w="4910667">
                  <a:extLst>
                    <a:ext uri="{9D8B030D-6E8A-4147-A177-3AD203B41FA5}">
                      <a16:colId xmlns:a16="http://schemas.microsoft.com/office/drawing/2014/main" val="410281213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grid-template-columns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Результат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12631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repeat(3, 250px);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3 колонки по 250 пикселей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63185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100px repeat(3, 1fr) 200px;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i="1" dirty="0">
                          <a:effectLst/>
                        </a:rPr>
                        <a:t>Первая колонка 100px, затем 3 колонки по 1fr, последняя 200px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23321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repeat(3, 100px 200px)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i="1" dirty="0">
                          <a:effectLst/>
                        </a:rPr>
                        <a:t>100px 200px </a:t>
                      </a:r>
                      <a:r>
                        <a:rPr lang="ru-RU" i="1" dirty="0">
                          <a:effectLst/>
                        </a:rPr>
                        <a:t>---</a:t>
                      </a:r>
                      <a:r>
                        <a:rPr lang="en-US" i="1" dirty="0">
                          <a:effectLst/>
                        </a:rPr>
                        <a:t>100px 200px </a:t>
                      </a:r>
                      <a:r>
                        <a:rPr lang="ru-RU" i="1" dirty="0">
                          <a:effectLst/>
                        </a:rPr>
                        <a:t>--- </a:t>
                      </a:r>
                      <a:r>
                        <a:rPr lang="en-US" i="1" dirty="0">
                          <a:effectLst/>
                        </a:rPr>
                        <a:t>100px 200px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09361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repeat(4, 50px 1fr);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 колонок: 50</a:t>
                      </a:r>
                      <a:r>
                        <a:rPr lang="en-US" dirty="0"/>
                        <a:t>px, 1fr, 50px, 1fr, 50px, 1fr, 50px, 1fr.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4952659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A5759E56-3FA4-4F42-ADD6-4BBAB6A4C5C6}"/>
              </a:ext>
            </a:extLst>
          </p:cNvPr>
          <p:cNvSpPr txBox="1"/>
          <p:nvPr/>
        </p:nvSpPr>
        <p:spPr>
          <a:xfrm>
            <a:off x="401068" y="159454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effectLst/>
              </a:rPr>
              <a:t>Синтаксис:</a:t>
            </a:r>
            <a:r>
              <a:rPr lang="ru-RU" dirty="0"/>
              <a:t> </a:t>
            </a:r>
            <a:r>
              <a:rPr lang="en-US" dirty="0">
                <a:solidFill>
                  <a:srgbClr val="EB5757"/>
                </a:solidFill>
                <a:effectLst/>
                <a:latin typeface="SFMono-Regular"/>
              </a:rPr>
              <a:t>repeat(</a:t>
            </a:r>
            <a:r>
              <a:rPr lang="ru-RU" dirty="0">
                <a:solidFill>
                  <a:srgbClr val="EB5757"/>
                </a:solidFill>
                <a:effectLst/>
                <a:latin typeface="SFMono-Regular"/>
              </a:rPr>
              <a:t>количество, размер)</a:t>
            </a:r>
            <a:endParaRPr lang="ru-RU" dirty="0">
              <a:effectLst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E24348-7B41-4BBA-907E-F2EE181F241F}"/>
              </a:ext>
            </a:extLst>
          </p:cNvPr>
          <p:cNvSpPr txBox="1"/>
          <p:nvPr/>
        </p:nvSpPr>
        <p:spPr>
          <a:xfrm>
            <a:off x="401068" y="678877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Если нужны одинаковые колонки или ряды, то можно воспользоваться функцией </a:t>
            </a:r>
            <a:r>
              <a:rPr lang="ru-RU" dirty="0" err="1">
                <a:solidFill>
                  <a:srgbClr val="EB5757"/>
                </a:solidFill>
                <a:effectLst/>
                <a:latin typeface="SFMono-Regular"/>
              </a:rPr>
              <a:t>repeat</a:t>
            </a:r>
            <a:r>
              <a:rPr lang="ru-RU" dirty="0">
                <a:solidFill>
                  <a:srgbClr val="EB5757"/>
                </a:solidFill>
                <a:effectLst/>
                <a:latin typeface="SFMono-Regular"/>
              </a:rPr>
              <a:t>()</a:t>
            </a:r>
            <a:endParaRPr lang="ru-RU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2012409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0E1F9-B8C8-4D29-B110-0477B7704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068" y="85918"/>
            <a:ext cx="11389863" cy="412845"/>
          </a:xfrm>
        </p:spPr>
        <p:txBody>
          <a:bodyPr>
            <a:normAutofit fontScale="90000"/>
          </a:bodyPr>
          <a:lstStyle/>
          <a:p>
            <a:r>
              <a:rPr lang="en-US" dirty="0"/>
              <a:t>Grid</a:t>
            </a:r>
            <a:r>
              <a:rPr lang="ru-RU" dirty="0"/>
              <a:t> </a:t>
            </a:r>
            <a:r>
              <a:rPr lang="en-US" dirty="0"/>
              <a:t>Fr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C583F8-D01F-43EC-8F42-069049FDDAF4}"/>
              </a:ext>
            </a:extLst>
          </p:cNvPr>
          <p:cNvSpPr txBox="1"/>
          <p:nvPr/>
        </p:nvSpPr>
        <p:spPr>
          <a:xfrm>
            <a:off x="401068" y="2327811"/>
            <a:ext cx="44556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Hack"/>
              </a:rPr>
              <a:t>grid-template-columns: 1fr </a:t>
            </a:r>
            <a:r>
              <a:rPr kumimoji="0" lang="en-US" altLang="en-US" sz="1800" b="0" i="1" u="none" strike="noStrike" cap="none" normalizeH="0" baseline="0" dirty="0" err="1">
                <a:ln>
                  <a:noFill/>
                </a:ln>
                <a:solidFill>
                  <a:srgbClr val="FF0000"/>
                </a:solidFill>
                <a:effectLst/>
                <a:latin typeface="Hack"/>
              </a:rPr>
              <a:t>1fr</a:t>
            </a: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Hack"/>
              </a:rPr>
              <a:t> 2fr</a:t>
            </a:r>
            <a:endParaRPr kumimoji="0" lang="en-US" altLang="en-US" sz="800" b="0" i="1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81D3879-9D7F-46C1-AB7B-A902607D1BB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949" t="22520" r="1120" b="25183"/>
          <a:stretch/>
        </p:blipFill>
        <p:spPr>
          <a:xfrm>
            <a:off x="4856731" y="2093961"/>
            <a:ext cx="7029979" cy="76433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1670EB8-8F0E-4577-A365-56113F8D052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3185" r="4829" b="22050"/>
          <a:stretch/>
        </p:blipFill>
        <p:spPr>
          <a:xfrm>
            <a:off x="4929716" y="5265498"/>
            <a:ext cx="6956994" cy="615885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2B0DF04A-51E6-4C3E-B53C-D0F5E2A17255}"/>
              </a:ext>
            </a:extLst>
          </p:cNvPr>
          <p:cNvSpPr txBox="1"/>
          <p:nvPr/>
        </p:nvSpPr>
        <p:spPr>
          <a:xfrm>
            <a:off x="401067" y="2865173"/>
            <a:ext cx="1138986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rgbClr val="252525"/>
                </a:solidFill>
                <a:latin typeface="Roboto" panose="020B0604020202020204" pitchFamily="2" charset="0"/>
              </a:rPr>
              <a:t>Э</a:t>
            </a:r>
            <a:r>
              <a:rPr lang="ru-RU" sz="1400" b="0" i="0" dirty="0">
                <a:solidFill>
                  <a:srgbClr val="252525"/>
                </a:solidFill>
                <a:effectLst/>
                <a:latin typeface="Roboto" panose="020B0604020202020204" pitchFamily="2" charset="0"/>
              </a:rPr>
              <a:t>лементы 1 и 2 занимают первые два </a:t>
            </a:r>
            <a:r>
              <a:rPr lang="ru-RU" sz="1600" b="0" i="0" dirty="0">
                <a:solidFill>
                  <a:srgbClr val="252525"/>
                </a:solidFill>
                <a:effectLst/>
                <a:latin typeface="Roboto" panose="020B0604020202020204" pitchFamily="2" charset="0"/>
              </a:rPr>
              <a:t>(</a:t>
            </a:r>
            <a:r>
              <a:rPr lang="ru-RU" sz="1400" b="0" i="0" dirty="0">
                <a:solidFill>
                  <a:srgbClr val="252525"/>
                </a:solidFill>
                <a:effectLst/>
                <a:latin typeface="Roboto" panose="020B0604020202020204" pitchFamily="2" charset="0"/>
              </a:rPr>
              <a:t>из четырех) разделов, а элемент 3 — последние два.</a:t>
            </a:r>
            <a:endParaRPr lang="en-US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164F30F-007F-4B59-988C-E4A47606B05E}"/>
              </a:ext>
            </a:extLst>
          </p:cNvPr>
          <p:cNvSpPr txBox="1"/>
          <p:nvPr/>
        </p:nvSpPr>
        <p:spPr>
          <a:xfrm>
            <a:off x="401067" y="5477532"/>
            <a:ext cx="44556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rgbClr val="FF0000"/>
                </a:solidFill>
              </a:rPr>
              <a:t>grid-template-columns: 3rem 25% 1fr 2fr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AA1749D-2545-485C-B25F-477FC52D0469}"/>
              </a:ext>
            </a:extLst>
          </p:cNvPr>
          <p:cNvSpPr txBox="1"/>
          <p:nvPr/>
        </p:nvSpPr>
        <p:spPr>
          <a:xfrm>
            <a:off x="401068" y="784734"/>
            <a:ext cx="44556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Hack"/>
              </a:rPr>
              <a:t>grid-template-columns: 1fr </a:t>
            </a:r>
            <a:r>
              <a:rPr kumimoji="0" lang="en-US" altLang="en-US" sz="1800" b="0" i="1" u="none" strike="noStrike" cap="none" normalizeH="0" baseline="0" dirty="0" err="1">
                <a:ln>
                  <a:noFill/>
                </a:ln>
                <a:solidFill>
                  <a:srgbClr val="FF0000"/>
                </a:solidFill>
                <a:effectLst/>
                <a:latin typeface="Hack"/>
              </a:rPr>
              <a:t>1fr</a:t>
            </a: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Hack"/>
              </a:rPr>
              <a:t> </a:t>
            </a:r>
            <a:r>
              <a:rPr lang="ru-RU" altLang="en-US" i="1" dirty="0">
                <a:solidFill>
                  <a:srgbClr val="FF0000"/>
                </a:solidFill>
                <a:latin typeface="Hack"/>
              </a:rPr>
              <a:t>1</a:t>
            </a:r>
            <a:r>
              <a:rPr kumimoji="0" lang="en-US" altLang="en-US" sz="1800" b="0" i="1" u="none" strike="noStrike" cap="none" normalizeH="0" baseline="0" dirty="0" err="1">
                <a:ln>
                  <a:noFill/>
                </a:ln>
                <a:solidFill>
                  <a:srgbClr val="FF0000"/>
                </a:solidFill>
                <a:effectLst/>
                <a:latin typeface="Hack"/>
              </a:rPr>
              <a:t>fr</a:t>
            </a:r>
            <a:endParaRPr kumimoji="0" lang="en-US" altLang="en-US" sz="800" b="0" i="1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2C7A771-868B-4244-89A4-6E6A254E046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188" t="9826" r="1501" b="14169"/>
          <a:stretch/>
        </p:blipFill>
        <p:spPr>
          <a:xfrm>
            <a:off x="4856731" y="626373"/>
            <a:ext cx="6934200" cy="68605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D0AB78F-0DBA-4E8E-8180-85CB4DF2A751}"/>
              </a:ext>
            </a:extLst>
          </p:cNvPr>
          <p:cNvSpPr txBox="1"/>
          <p:nvPr/>
        </p:nvSpPr>
        <p:spPr>
          <a:xfrm>
            <a:off x="401067" y="1345949"/>
            <a:ext cx="113898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>
                <a:latin typeface="Roboto" panose="02000000000000000000" pitchFamily="2" charset="0"/>
                <a:ea typeface="Roboto" panose="02000000000000000000" pitchFamily="2" charset="0"/>
              </a:rPr>
              <a:t>Три колонки, каждая из которых будет занимать 1/3 доступного пространства или 1/3 ширины контейнера: </a:t>
            </a:r>
            <a:endParaRPr lang="en-US" sz="14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E7C5A9E-622C-4C5C-BDB6-E6865E1A7A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6730" y="3781484"/>
            <a:ext cx="7029980" cy="67947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08552D82-F542-49B9-93D9-DD828467B991}"/>
              </a:ext>
            </a:extLst>
          </p:cNvPr>
          <p:cNvSpPr txBox="1"/>
          <p:nvPr/>
        </p:nvSpPr>
        <p:spPr>
          <a:xfrm>
            <a:off x="401067" y="393655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Hack"/>
              </a:rPr>
              <a:t>grid-template-columns: 1fr 200px </a:t>
            </a:r>
            <a:r>
              <a:rPr lang="en-US" altLang="en-US" i="1" dirty="0">
                <a:solidFill>
                  <a:srgbClr val="FF0000"/>
                </a:solidFill>
                <a:latin typeface="Hack"/>
              </a:rPr>
              <a:t>1</a:t>
            </a: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Hack"/>
              </a:rPr>
              <a:t>fr</a:t>
            </a:r>
            <a:endParaRPr kumimoji="0" lang="en-US" altLang="en-US" sz="800" b="0" i="1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CEFEB50-516D-452D-A0DA-13C44F130BDA}"/>
              </a:ext>
            </a:extLst>
          </p:cNvPr>
          <p:cNvSpPr txBox="1"/>
          <p:nvPr/>
        </p:nvSpPr>
        <p:spPr>
          <a:xfrm>
            <a:off x="401067" y="4431308"/>
            <a:ext cx="1148564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>
                <a:latin typeface="Roboto" panose="02000000000000000000" pitchFamily="2" charset="0"/>
                <a:ea typeface="Roboto" panose="02000000000000000000" pitchFamily="2" charset="0"/>
              </a:rPr>
              <a:t>Каждая из колонок с </a:t>
            </a:r>
            <a:r>
              <a:rPr lang="ru-RU" sz="1400" dirty="0">
                <a:solidFill>
                  <a:srgbClr val="EB5757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1fr</a:t>
            </a:r>
            <a:r>
              <a:rPr lang="en-US" sz="1400" dirty="0">
                <a:solidFill>
                  <a:srgbClr val="EB5757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ru-RU" sz="1400" dirty="0">
                <a:latin typeface="Roboto" panose="02000000000000000000" pitchFamily="2" charset="0"/>
                <a:ea typeface="Roboto" panose="02000000000000000000" pitchFamily="2" charset="0"/>
              </a:rPr>
              <a:t>будет занимать половину оставшегося пространства: (ширина контейнера - 200px) / 2:</a:t>
            </a:r>
            <a:endParaRPr lang="en-US" sz="14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0606519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{2C6CD7E6-B4B1-4101-9C26-F8F740A82B58}tf10001115</Template>
  <TotalTime>354</TotalTime>
  <Words>445</Words>
  <Application>Microsoft Office PowerPoint</Application>
  <PresentationFormat>Widescreen</PresentationFormat>
  <Paragraphs>53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Arial</vt:lpstr>
      <vt:lpstr>Corbel</vt:lpstr>
      <vt:lpstr>Gill Sans MT</vt:lpstr>
      <vt:lpstr>Hack</vt:lpstr>
      <vt:lpstr>Roboto</vt:lpstr>
      <vt:lpstr>SFMono-Regular</vt:lpstr>
      <vt:lpstr>Parcel</vt:lpstr>
      <vt:lpstr>6. Flexbox. grid</vt:lpstr>
      <vt:lpstr>Вёрстка</vt:lpstr>
      <vt:lpstr>Табличная вёрстка</vt:lpstr>
      <vt:lpstr>Примеры вёрстки таблицами</vt:lpstr>
      <vt:lpstr>Примеры вёрстки таблицами</vt:lpstr>
      <vt:lpstr>Примеры вёрстки таблицами</vt:lpstr>
      <vt:lpstr>Блочная вёрстка</vt:lpstr>
      <vt:lpstr>Flexbox</vt:lpstr>
      <vt:lpstr>Устройство flex-контейнера. Направление осей</vt:lpstr>
      <vt:lpstr>Устройство flex-контейнера. Направление осей</vt:lpstr>
      <vt:lpstr>Переполнение контейнера</vt:lpstr>
      <vt:lpstr>Переполнение контейнера</vt:lpstr>
      <vt:lpstr>Выравнивание flex-элементов</vt:lpstr>
      <vt:lpstr>Выравнивание flex-элементов по основной оси</vt:lpstr>
      <vt:lpstr>Выравнивание flex-элементов по поперечной оси</vt:lpstr>
      <vt:lpstr>Grid</vt:lpstr>
      <vt:lpstr>Grid</vt:lpstr>
      <vt:lpstr>Grid</vt:lpstr>
      <vt:lpstr>PowerPoint Presentation</vt:lpstr>
      <vt:lpstr>Repeat</vt:lpstr>
      <vt:lpstr>Grid Fr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5. Flexbox. grid</dc:title>
  <dc:creator>roman</dc:creator>
  <cp:lastModifiedBy>рома борисов</cp:lastModifiedBy>
  <cp:revision>96</cp:revision>
  <dcterms:created xsi:type="dcterms:W3CDTF">2023-10-08T14:52:46Z</dcterms:created>
  <dcterms:modified xsi:type="dcterms:W3CDTF">2025-10-10T15:55:58Z</dcterms:modified>
</cp:coreProperties>
</file>