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sldIdLst>
    <p:sldId id="256" r:id="rId2"/>
    <p:sldId id="266" r:id="rId3"/>
    <p:sldId id="267" r:id="rId4"/>
    <p:sldId id="268" r:id="rId5"/>
    <p:sldId id="269" r:id="rId6"/>
    <p:sldId id="270" r:id="rId7"/>
    <p:sldId id="271" r:id="rId8"/>
    <p:sldId id="272" r:id="rId9"/>
    <p:sldId id="279" r:id="rId10"/>
    <p:sldId id="280" r:id="rId11"/>
    <p:sldId id="27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10/6/2025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10/6/2025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10/6/2025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10/6/2025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10/6/2025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10/6/2025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10/6/2025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10/6/2025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10/6/2025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3C6BD-AD49-477B-8EDD-40D99FE1C2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5. Бэм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A815B6-A751-4851-BC31-B96795E601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8581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8D19D-6EF5-43CE-986B-3A17BE161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874" y="185107"/>
            <a:ext cx="10652526" cy="371739"/>
          </a:xfrm>
        </p:spPr>
        <p:txBody>
          <a:bodyPr>
            <a:normAutofit fontScale="90000"/>
          </a:bodyPr>
          <a:lstStyle/>
          <a:p>
            <a:r>
              <a:rPr lang="ru-RU" dirty="0"/>
              <a:t>БЭМ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78C1DF-EE1B-4E82-BA79-7D6A12B4F8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873" y="756138"/>
            <a:ext cx="10652526" cy="12309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БЭМ (Блок, Элемент, Модификатор) </a:t>
            </a:r>
            <a:r>
              <a:rPr lang="ru-RU" dirty="0"/>
              <a:t>— компонентный подход к веб-разработке, который был разработан компанией “Яндекс”. В его основе лежит принцип разделения интерфейса на независимые блоки. Он позволяет легко и быстро разрабатывать интерфейсы любой сложности и повторно использовать существующий код, избегая «</a:t>
            </a:r>
            <a:r>
              <a:rPr lang="ru-RU" dirty="0" err="1"/>
              <a:t>Copy-Paste</a:t>
            </a:r>
            <a:r>
              <a:rPr lang="ru-RU" dirty="0"/>
              <a:t>».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62592F-AB68-44EE-8BB8-E07A90EF6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975" y="2379783"/>
            <a:ext cx="5965948" cy="353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6596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8D19D-6EF5-43CE-986B-3A17BE161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874" y="185107"/>
            <a:ext cx="10652526" cy="371739"/>
          </a:xfrm>
        </p:spPr>
        <p:txBody>
          <a:bodyPr>
            <a:normAutofit fontScale="90000"/>
          </a:bodyPr>
          <a:lstStyle/>
          <a:p>
            <a:r>
              <a:rPr lang="ru-RU" dirty="0"/>
              <a:t>Зачем нужен Бэм?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F214E3-E004-4D53-A024-3A6896698C4A}"/>
              </a:ext>
            </a:extLst>
          </p:cNvPr>
          <p:cNvSpPr txBox="1"/>
          <p:nvPr/>
        </p:nvSpPr>
        <p:spPr>
          <a:xfrm>
            <a:off x="489606" y="556846"/>
            <a:ext cx="10652526" cy="3747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1600" dirty="0"/>
              <a:t>Требования к методологии сформированные разработчиками «Яндекса»: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Разработчик должен понимать свой код (даже вернувшись к нему через год) и код любого программиста в команде БЭМ-проекта.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Любой блок кода может быть использован повторно.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Работая в одной команде, разработчики, менеджеры, дизайнеры и верстальщики должны называть одни и те же вещи одинаково.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Команды могут обмениваться специалистами для реализации какой-то конкретной функциональности.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Порог входа при переходе на новый проект должен быть снижен за счет одинаковой структуры организации всех БЭМ-проектов и одинаковых правил именования всех сущностей.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БЭМ позволяет нам </a:t>
            </a:r>
            <a:r>
              <a:rPr lang="ru-RU" sz="1600" dirty="0" err="1"/>
              <a:t>по-минимуму</a:t>
            </a:r>
            <a:r>
              <a:rPr lang="ru-RU" sz="1600" dirty="0"/>
              <a:t> думать о спецификации и весах.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DE35E4-0347-49C5-8C12-EFCFC5DF4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812" y="4304282"/>
            <a:ext cx="8078787" cy="2590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210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8D19D-6EF5-43CE-986B-3A17BE161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874" y="185107"/>
            <a:ext cx="10652526" cy="371739"/>
          </a:xfrm>
        </p:spPr>
        <p:txBody>
          <a:bodyPr>
            <a:normAutofit fontScale="90000"/>
          </a:bodyPr>
          <a:lstStyle/>
          <a:p>
            <a:r>
              <a:rPr lang="ru-RU" dirty="0"/>
              <a:t>Зачем нужен Бэм?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313DFA-9D53-496D-BDED-6F4E4B8DD8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139" y="3755780"/>
            <a:ext cx="5851722" cy="20178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2FE0D1A-1BE1-41BE-B953-91E33E008E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0750" y="879231"/>
            <a:ext cx="7810500" cy="2352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377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8D19D-6EF5-43CE-986B-3A17BE161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874" y="185107"/>
            <a:ext cx="10652526" cy="371739"/>
          </a:xfrm>
        </p:spPr>
        <p:txBody>
          <a:bodyPr>
            <a:normAutofit fontScale="90000"/>
          </a:bodyPr>
          <a:lstStyle/>
          <a:p>
            <a:r>
              <a:rPr lang="ru-RU" dirty="0"/>
              <a:t>Из чего состоит БЭМ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D983A9-15CD-46FD-B07A-E0BCE2331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5452" y="1260228"/>
            <a:ext cx="5965948" cy="35353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F74A3AF-AB27-4A2D-B413-6779A2A0586E}"/>
              </a:ext>
            </a:extLst>
          </p:cNvPr>
          <p:cNvSpPr txBox="1"/>
          <p:nvPr/>
        </p:nvSpPr>
        <p:spPr>
          <a:xfrm>
            <a:off x="548874" y="1531928"/>
            <a:ext cx="453894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1" dirty="0"/>
              <a:t>Блок</a:t>
            </a:r>
            <a:r>
              <a:rPr lang="ru-RU" dirty="0"/>
              <a:t> - логически и функционально независимый компонент страницы.</a:t>
            </a:r>
          </a:p>
          <a:p>
            <a:endParaRPr lang="ru-RU" dirty="0"/>
          </a:p>
          <a:p>
            <a:r>
              <a:rPr lang="ru-RU" b="1" i="1" dirty="0"/>
              <a:t>Элемент</a:t>
            </a:r>
            <a:r>
              <a:rPr lang="ru-RU" dirty="0"/>
              <a:t> - часть блока, которая не может использоваться в отрыве от него и имеет смысл только в рамках своего родителя.</a:t>
            </a:r>
          </a:p>
          <a:p>
            <a:r>
              <a:rPr lang="ru-RU" dirty="0"/>
              <a:t> </a:t>
            </a:r>
          </a:p>
          <a:p>
            <a:r>
              <a:rPr lang="ru-RU" b="1" i="1" dirty="0"/>
              <a:t>Модификатор</a:t>
            </a:r>
            <a:r>
              <a:rPr lang="ru-RU" dirty="0"/>
              <a:t> - свойство блока или элемента, которое меняет их внешний вид, состояние или поведение.</a:t>
            </a:r>
          </a:p>
        </p:txBody>
      </p:sp>
    </p:spTree>
    <p:extLst>
      <p:ext uri="{BB962C8B-B14F-4D97-AF65-F5344CB8AC3E}">
        <p14:creationId xmlns:p14="http://schemas.microsoft.com/office/powerpoint/2010/main" val="2260758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8D19D-6EF5-43CE-986B-3A17BE161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874" y="185107"/>
            <a:ext cx="10652526" cy="371739"/>
          </a:xfrm>
        </p:spPr>
        <p:txBody>
          <a:bodyPr>
            <a:normAutofit fontScale="90000"/>
          </a:bodyPr>
          <a:lstStyle/>
          <a:p>
            <a:r>
              <a:rPr lang="ru-RU" dirty="0"/>
              <a:t>Блок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74A3AF-AB27-4A2D-B413-6779A2A0586E}"/>
              </a:ext>
            </a:extLst>
          </p:cNvPr>
          <p:cNvSpPr txBox="1"/>
          <p:nvPr/>
        </p:nvSpPr>
        <p:spPr>
          <a:xfrm>
            <a:off x="548874" y="789622"/>
            <a:ext cx="1065252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b="1" dirty="0"/>
              <a:t>Блок</a:t>
            </a:r>
            <a:r>
              <a:rPr lang="ru-RU" dirty="0"/>
              <a:t> - логически и функционально независимый компонент страницы. Блок полностью самодостаточен: у него может быть свое поведение, шаблоны, стили, документация и не только. Блоки могут использоваться в любом месте страницы, повторно, даже в другом проекте. Одни блоки можно вкладывать в другие, компоновать, использовать для создания более сложных блоков.</a:t>
            </a:r>
          </a:p>
          <a:p>
            <a:pPr algn="just"/>
            <a:endParaRPr lang="ru-R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59B52F-6B82-4D6F-A092-2F3FCBA79D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745" y="2266950"/>
            <a:ext cx="8150510" cy="19900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0CDE6-A271-4C67-8441-E3BB3D94B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3518" y="4294034"/>
            <a:ext cx="6551585" cy="1668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061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8D19D-6EF5-43CE-986B-3A17BE161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874" y="185107"/>
            <a:ext cx="10652526" cy="371739"/>
          </a:xfrm>
        </p:spPr>
        <p:txBody>
          <a:bodyPr>
            <a:normAutofit fontScale="90000"/>
          </a:bodyPr>
          <a:lstStyle/>
          <a:p>
            <a:r>
              <a:rPr lang="ru-RU" dirty="0"/>
              <a:t>Элемент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74A3AF-AB27-4A2D-B413-6779A2A0586E}"/>
              </a:ext>
            </a:extLst>
          </p:cNvPr>
          <p:cNvSpPr txBox="1"/>
          <p:nvPr/>
        </p:nvSpPr>
        <p:spPr>
          <a:xfrm>
            <a:off x="548874" y="806172"/>
            <a:ext cx="106525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b="1" dirty="0"/>
              <a:t>Элемент</a:t>
            </a:r>
            <a:r>
              <a:rPr lang="ru-RU" dirty="0"/>
              <a:t> - часть блока, которая не может использоваться в отрыве от него и имеет смысл только в рамках своего родителя. Элементы могут быть обязательными и опциональными.</a:t>
            </a:r>
          </a:p>
          <a:p>
            <a:pPr algn="just"/>
            <a:r>
              <a:rPr lang="ru-RU" dirty="0"/>
              <a:t>Работая с элементами, важно помнить правило: не рекомендуется создавать элементы элементов.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243159-C847-4696-9B0D-DFBDB650805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96" r="7157" b="4178"/>
          <a:stretch/>
        </p:blipFill>
        <p:spPr>
          <a:xfrm>
            <a:off x="6725264" y="2535726"/>
            <a:ext cx="4973157" cy="133425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6F9C146-EEBA-40EE-A4AB-85C928F196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189" y="1729502"/>
            <a:ext cx="6091075" cy="4803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405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8D19D-6EF5-43CE-986B-3A17BE161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874" y="185107"/>
            <a:ext cx="10652526" cy="371739"/>
          </a:xfrm>
        </p:spPr>
        <p:txBody>
          <a:bodyPr>
            <a:normAutofit fontScale="90000"/>
          </a:bodyPr>
          <a:lstStyle/>
          <a:p>
            <a:r>
              <a:rPr lang="ru-RU" dirty="0"/>
              <a:t>Модификатор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74A3AF-AB27-4A2D-B413-6779A2A0586E}"/>
              </a:ext>
            </a:extLst>
          </p:cNvPr>
          <p:cNvSpPr txBox="1"/>
          <p:nvPr/>
        </p:nvSpPr>
        <p:spPr>
          <a:xfrm>
            <a:off x="548874" y="800294"/>
            <a:ext cx="106525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b="1" dirty="0"/>
              <a:t>Модификатор </a:t>
            </a:r>
            <a:r>
              <a:rPr lang="en-US" dirty="0"/>
              <a:t>- </a:t>
            </a:r>
            <a:r>
              <a:rPr lang="ru-RU" dirty="0"/>
              <a:t>свойство блока или элемента, которое меняет их внешний вид, состояние или поведение.</a:t>
            </a:r>
          </a:p>
          <a:p>
            <a:pPr algn="just"/>
            <a:r>
              <a:rPr lang="ru-RU" dirty="0"/>
              <a:t>Модификатор имеет имя и может иметь значение. Использование модификаторов опционально. У блока/элемента может быть несколько разных модификаторов одновременно.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FB0679-A679-4A85-993F-CE2A438F94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0638" y="2713855"/>
            <a:ext cx="7250723" cy="2893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7711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8D19D-6EF5-43CE-986B-3A17BE161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874" y="185107"/>
            <a:ext cx="10652526" cy="371739"/>
          </a:xfrm>
        </p:spPr>
        <p:txBody>
          <a:bodyPr>
            <a:normAutofit fontScale="90000"/>
          </a:bodyPr>
          <a:lstStyle/>
          <a:p>
            <a:r>
              <a:rPr lang="ru-RU" dirty="0"/>
              <a:t>Типы модификаторов</a:t>
            </a:r>
            <a:r>
              <a:rPr lang="en-US" dirty="0"/>
              <a:t>. </a:t>
            </a:r>
            <a:r>
              <a:rPr lang="ru-RU" dirty="0" err="1"/>
              <a:t>Булевый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74A3AF-AB27-4A2D-B413-6779A2A0586E}"/>
              </a:ext>
            </a:extLst>
          </p:cNvPr>
          <p:cNvSpPr txBox="1"/>
          <p:nvPr/>
        </p:nvSpPr>
        <p:spPr>
          <a:xfrm>
            <a:off x="548874" y="800294"/>
            <a:ext cx="106525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b="1" dirty="0" err="1">
                <a:solidFill>
                  <a:srgbClr val="000000"/>
                </a:solidFill>
                <a:effectLst/>
                <a:latin typeface="OpenSans-SemiBold"/>
              </a:rPr>
              <a:t>Булевый</a:t>
            </a:r>
            <a:r>
              <a:rPr lang="ru-RU" b="1" dirty="0">
                <a:solidFill>
                  <a:srgbClr val="000000"/>
                </a:solidFill>
                <a:effectLst/>
                <a:latin typeface="OpenSans-SemiBold"/>
              </a:rPr>
              <a:t>. </a:t>
            </a:r>
            <a:r>
              <a:rPr lang="en-US" dirty="0" err="1"/>
              <a:t>Используют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наличие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отсутствие</a:t>
            </a:r>
            <a:r>
              <a:rPr lang="en-US" dirty="0"/>
              <a:t> </a:t>
            </a:r>
            <a:r>
              <a:rPr lang="en-US" dirty="0" err="1"/>
              <a:t>модификатора</a:t>
            </a:r>
            <a:r>
              <a:rPr lang="en-US" dirty="0"/>
              <a:t>, а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несущественно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«</a:t>
            </a:r>
            <a:r>
              <a:rPr lang="en-US" dirty="0" err="1"/>
              <a:t>отключен</a:t>
            </a:r>
            <a:r>
              <a:rPr lang="en-US" dirty="0"/>
              <a:t>»:</a:t>
            </a:r>
            <a:r>
              <a:rPr lang="ru-RU" dirty="0"/>
              <a:t> </a:t>
            </a:r>
            <a:r>
              <a:rPr lang="en-US" i="1" dirty="0"/>
              <a:t>disabled</a:t>
            </a:r>
            <a:r>
              <a:rPr lang="en-US" dirty="0"/>
              <a:t> </a:t>
            </a:r>
            <a:r>
              <a:rPr lang="en-US" dirty="0" err="1"/>
              <a:t>Считается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наличии</a:t>
            </a:r>
            <a:r>
              <a:rPr lang="en-US" dirty="0"/>
              <a:t> </a:t>
            </a:r>
            <a:r>
              <a:rPr lang="en-US" dirty="0" err="1"/>
              <a:t>булевого</a:t>
            </a:r>
            <a:r>
              <a:rPr lang="en-US" dirty="0"/>
              <a:t> </a:t>
            </a:r>
            <a:r>
              <a:rPr lang="en-US" dirty="0" err="1"/>
              <a:t>модификатора</a:t>
            </a:r>
            <a:r>
              <a:rPr lang="en-US" dirty="0"/>
              <a:t> у </a:t>
            </a:r>
            <a:r>
              <a:rPr lang="en-US" dirty="0" err="1"/>
              <a:t>сущности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равно</a:t>
            </a:r>
            <a:r>
              <a:rPr lang="en-US" dirty="0"/>
              <a:t> true.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ru-RU" b="1" dirty="0">
              <a:solidFill>
                <a:srgbClr val="000000"/>
              </a:solidFill>
              <a:effectLst/>
              <a:latin typeface="OpenSans-SemiBold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F4C91D7-3BBD-4127-9E70-3E858EA8D9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915" y="2086240"/>
            <a:ext cx="6723002" cy="207208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F7B45C-3F43-435D-B302-67561F939EF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4885"/>
          <a:stretch/>
        </p:blipFill>
        <p:spPr>
          <a:xfrm>
            <a:off x="2411915" y="4566058"/>
            <a:ext cx="7250723" cy="159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9176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8D19D-6EF5-43CE-986B-3A17BE161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874" y="185107"/>
            <a:ext cx="10652526" cy="371739"/>
          </a:xfrm>
        </p:spPr>
        <p:txBody>
          <a:bodyPr>
            <a:normAutofit fontScale="90000"/>
          </a:bodyPr>
          <a:lstStyle/>
          <a:p>
            <a:r>
              <a:rPr lang="ru-RU" dirty="0"/>
              <a:t>Типы модификаторов</a:t>
            </a:r>
            <a:r>
              <a:rPr lang="en-US" dirty="0"/>
              <a:t>. </a:t>
            </a:r>
            <a:r>
              <a:rPr lang="ru-RU" dirty="0"/>
              <a:t>Ключ значение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3D7061-D071-4914-8928-EC673898C105}"/>
              </a:ext>
            </a:extLst>
          </p:cNvPr>
          <p:cNvSpPr txBox="1"/>
          <p:nvPr/>
        </p:nvSpPr>
        <p:spPr>
          <a:xfrm>
            <a:off x="548874" y="814099"/>
            <a:ext cx="1059170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rgbClr val="000000"/>
                </a:solidFill>
                <a:effectLst/>
                <a:latin typeface="OpenSans-SemiBold"/>
              </a:rPr>
              <a:t>Ключ-значение. </a:t>
            </a:r>
            <a:r>
              <a:rPr lang="en-US" dirty="0" err="1"/>
              <a:t>Используют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модификатора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«</a:t>
            </a:r>
            <a:r>
              <a:rPr lang="en-US" dirty="0" err="1"/>
              <a:t>меню</a:t>
            </a:r>
            <a:r>
              <a:rPr lang="en-US" dirty="0"/>
              <a:t> с </a:t>
            </a:r>
            <a:r>
              <a:rPr lang="en-US" dirty="0" err="1"/>
              <a:t>темой</a:t>
            </a:r>
            <a:r>
              <a:rPr lang="en-US" dirty="0"/>
              <a:t> </a:t>
            </a:r>
            <a:r>
              <a:rPr lang="en-US" dirty="0" err="1"/>
              <a:t>оформления</a:t>
            </a:r>
            <a:r>
              <a:rPr lang="en-US" dirty="0"/>
              <a:t> islands»: </a:t>
            </a:r>
            <a:r>
              <a:rPr lang="en-US" dirty="0" err="1"/>
              <a:t>menu_theme_islands</a:t>
            </a:r>
            <a:r>
              <a:rPr lang="en-US" dirty="0"/>
              <a:t>.</a:t>
            </a:r>
            <a:r>
              <a:rPr lang="ru-RU" dirty="0"/>
              <a:t> Невозможно одновременно использовать два одинаковых модификатора с разными значениями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1A9903-7491-4111-A196-65BA1496973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342" r="7463" b="51104"/>
          <a:stretch/>
        </p:blipFill>
        <p:spPr>
          <a:xfrm>
            <a:off x="2547551" y="5043487"/>
            <a:ext cx="6249798" cy="14145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FFE2E1-943F-4FA7-ADBA-AF32E0BB7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7551" y="1814512"/>
            <a:ext cx="6200775" cy="322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137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8D19D-6EF5-43CE-986B-3A17BE161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874" y="185107"/>
            <a:ext cx="10652526" cy="371739"/>
          </a:xfrm>
        </p:spPr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Правила формирования имени БЭМ-сущности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74A3AF-AB27-4A2D-B413-6779A2A0586E}"/>
              </a:ext>
            </a:extLst>
          </p:cNvPr>
          <p:cNvSpPr txBox="1"/>
          <p:nvPr/>
        </p:nvSpPr>
        <p:spPr>
          <a:xfrm>
            <a:off x="548874" y="755743"/>
            <a:ext cx="10652526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Каждая БЭМ-сущность должна иметь свой класс.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CSS-свойства для блоков, элементов и модификаторов описываются только через классы.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Для разделения слов в именах используется дефис (-).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Элемент отделяется от блока двумя подчеркиваниями (</a:t>
            </a:r>
            <a:r>
              <a:rPr lang="ru-RU" dirty="0">
                <a:solidFill>
                  <a:srgbClr val="EB5757"/>
                </a:solidFill>
                <a:effectLst/>
                <a:latin typeface="SFMono-Regular"/>
              </a:rPr>
              <a:t>__</a:t>
            </a:r>
            <a:r>
              <a:rPr lang="ru-RU" dirty="0"/>
              <a:t>). Модификатор — одним (</a:t>
            </a:r>
            <a:r>
              <a:rPr lang="ru-RU" dirty="0">
                <a:solidFill>
                  <a:srgbClr val="EB5757"/>
                </a:solidFill>
                <a:effectLst/>
                <a:latin typeface="SFMono-Regular"/>
              </a:rPr>
              <a:t>_</a:t>
            </a:r>
            <a:r>
              <a:rPr lang="ru-RU" dirty="0"/>
              <a:t>).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2AF91A-CFD5-475B-BD81-0C4F1F4F0C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887" y="2666006"/>
            <a:ext cx="93345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333286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298</TotalTime>
  <Words>485</Words>
  <Application>Microsoft Office PowerPoint</Application>
  <PresentationFormat>Widescreen</PresentationFormat>
  <Paragraphs>35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Corbel</vt:lpstr>
      <vt:lpstr>Gill Sans MT</vt:lpstr>
      <vt:lpstr>OpenSans-SemiBold</vt:lpstr>
      <vt:lpstr>SFMono-Regular</vt:lpstr>
      <vt:lpstr>Parcel</vt:lpstr>
      <vt:lpstr>5. Бэм</vt:lpstr>
      <vt:lpstr>БЭМ</vt:lpstr>
      <vt:lpstr>Зачем нужен Бэм?</vt:lpstr>
      <vt:lpstr>Зачем нужен Бэм?</vt:lpstr>
      <vt:lpstr>Из чего состоит БЭМ</vt:lpstr>
      <vt:lpstr>Блок</vt:lpstr>
      <vt:lpstr>Элемент</vt:lpstr>
      <vt:lpstr>Модификатор</vt:lpstr>
      <vt:lpstr>Типы модификаторов. Булевый</vt:lpstr>
      <vt:lpstr>Типы модификаторов. Ключ значение</vt:lpstr>
      <vt:lpstr>Правила формирования имени БЭМ-сущности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4. css. Бэм</dc:title>
  <dc:creator>roman</dc:creator>
  <cp:lastModifiedBy>рома борисов</cp:lastModifiedBy>
  <cp:revision>130</cp:revision>
  <dcterms:created xsi:type="dcterms:W3CDTF">2023-10-04T17:53:00Z</dcterms:created>
  <dcterms:modified xsi:type="dcterms:W3CDTF">2025-10-06T15:45:37Z</dcterms:modified>
</cp:coreProperties>
</file>