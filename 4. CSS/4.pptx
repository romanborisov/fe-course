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4" r:id="rId10"/>
    <p:sldId id="265" r:id="rId11"/>
    <p:sldId id="282" r:id="rId12"/>
    <p:sldId id="274" r:id="rId13"/>
    <p:sldId id="276" r:id="rId14"/>
    <p:sldId id="280" r:id="rId15"/>
    <p:sldId id="281" r:id="rId16"/>
    <p:sldId id="278" r:id="rId17"/>
    <p:sldId id="28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C6BD-AD49-477B-8EDD-40D99FE1C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4. </a:t>
            </a:r>
            <a:r>
              <a:rPr lang="en-US" dirty="0" err="1"/>
              <a:t>css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815B6-A751-4851-BC31-B96795E601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5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39959F-3942-453A-AA06-DFF7F99DC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3499" y="868748"/>
            <a:ext cx="6827338" cy="5120504"/>
          </a:xfrm>
        </p:spPr>
      </p:pic>
    </p:spTree>
    <p:extLst>
      <p:ext uri="{BB962C8B-B14F-4D97-AF65-F5344CB8AC3E}">
        <p14:creationId xmlns:p14="http://schemas.microsoft.com/office/powerpoint/2010/main" val="163173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178B-4D78-4C67-A059-83A40D794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27" y="1098957"/>
            <a:ext cx="11149304" cy="5478011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CSS </a:t>
            </a:r>
            <a:r>
              <a:rPr lang="en-US" dirty="0"/>
              <a:t>- </a:t>
            </a:r>
            <a:r>
              <a:rPr lang="ru-RU" i="1" dirty="0" err="1">
                <a:effectLst/>
              </a:rPr>
              <a:t>Cascading</a:t>
            </a:r>
            <a:r>
              <a:rPr lang="ru-RU" i="1" dirty="0">
                <a:effectLst/>
              </a:rPr>
              <a:t> Style </a:t>
            </a:r>
            <a:r>
              <a:rPr lang="ru-RU" i="1" dirty="0" err="1">
                <a:effectLst/>
              </a:rPr>
              <a:t>Sheets</a:t>
            </a:r>
            <a:r>
              <a:rPr lang="ru-RU" dirty="0"/>
              <a:t> («каскадные таблицы стилей»).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2D1C2-8B4A-4F98-8642-5AEE04C89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20" y="1639083"/>
            <a:ext cx="422910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F15F79-A35C-4019-86F7-D26C807A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29758"/>
            <a:ext cx="48387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178B-4D78-4C67-A059-83A40D794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27" y="1098957"/>
            <a:ext cx="11149304" cy="547801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Способы подключения CSS стилей: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Напрямую в теге </a:t>
            </a:r>
            <a:r>
              <a:rPr lang="en-US" dirty="0"/>
              <a:t>&lt;</a:t>
            </a:r>
            <a:r>
              <a:rPr lang="ru-RU" dirty="0" err="1"/>
              <a:t>head</a:t>
            </a:r>
            <a:r>
              <a:rPr lang="en-US" dirty="0"/>
              <a:t>&gt;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ru-RU" dirty="0" err="1"/>
              <a:t>аттрибуте</a:t>
            </a:r>
            <a:r>
              <a:rPr lang="ru-RU" dirty="0"/>
              <a:t>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style</a:t>
            </a:r>
            <a:r>
              <a:rPr lang="ru-RU" dirty="0"/>
              <a:t> для конкретного</a:t>
            </a:r>
          </a:p>
          <a:p>
            <a:pPr marL="0" indent="0">
              <a:buNone/>
            </a:pPr>
            <a:r>
              <a:rPr lang="ru-RU" dirty="0"/>
              <a:t> селектора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Подключить файл со стилями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9A7623-59E4-407E-B5E2-A6E4FA38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ru-RU" dirty="0"/>
              <a:t>Способы подключения </a:t>
            </a:r>
            <a:r>
              <a:rPr lang="en-US" dirty="0"/>
              <a:t>CSS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62329-C08A-40D0-984C-E96B57DAD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052" y="1192681"/>
            <a:ext cx="6754885" cy="44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9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8C6789-6B80-460E-84E8-252D373D7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581" y="494874"/>
            <a:ext cx="7727546" cy="2752419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580BDC-C5F1-46FB-B275-3A45ACB2F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69" y="3534874"/>
            <a:ext cx="93916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8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9793D6-F062-45C4-A363-5847B5889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37" y="334321"/>
            <a:ext cx="5267325" cy="559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67B893-6C5C-4E23-BD20-2F8E0E863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24" y="164266"/>
            <a:ext cx="4434841" cy="562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9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FE4098-B914-46A0-BE4E-D5F61C53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7" y="334321"/>
            <a:ext cx="6165667" cy="5591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233383-E5B6-4962-92AD-65069EBA1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653" y="334321"/>
            <a:ext cx="49244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9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643A6-F923-4522-A738-920BFECCD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950" y="925045"/>
            <a:ext cx="6156450" cy="5190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19990F-6294-477A-A8FB-5AA822F038F3}"/>
              </a:ext>
            </a:extLst>
          </p:cNvPr>
          <p:cNvSpPr txBox="1"/>
          <p:nvPr/>
        </p:nvSpPr>
        <p:spPr>
          <a:xfrm>
            <a:off x="548874" y="631011"/>
            <a:ext cx="6156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CSS </a:t>
            </a:r>
            <a:r>
              <a:rPr lang="ru-RU" dirty="0"/>
              <a:t>(</a:t>
            </a:r>
            <a:r>
              <a:rPr lang="ru-RU" dirty="0">
                <a:effectLst/>
              </a:rPr>
              <a:t>«</a:t>
            </a:r>
            <a:r>
              <a:rPr lang="ru-RU" dirty="0" err="1">
                <a:effectLst/>
              </a:rPr>
              <a:t>Cascading</a:t>
            </a:r>
            <a:r>
              <a:rPr lang="ru-RU" dirty="0">
                <a:effectLst/>
              </a:rPr>
              <a:t> Style </a:t>
            </a:r>
            <a:r>
              <a:rPr lang="ru-RU" dirty="0" err="1">
                <a:effectLst/>
              </a:rPr>
              <a:t>Sheets</a:t>
            </a:r>
            <a:r>
              <a:rPr lang="ru-RU" dirty="0"/>
              <a:t>») - </a:t>
            </a:r>
            <a:r>
              <a:rPr lang="ru-RU" i="1" dirty="0">
                <a:effectLst/>
              </a:rPr>
              <a:t>Каскадные Таблицы Стилей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BAB5D9-2BC0-4191-BCD3-44F4D1AB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ru-RU" dirty="0"/>
              <a:t>Каскады в </a:t>
            </a:r>
            <a:r>
              <a:rPr lang="en-US" dirty="0"/>
              <a:t>CSS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AABDD-2335-4A31-A833-00581F1B3A91}"/>
              </a:ext>
            </a:extLst>
          </p:cNvPr>
          <p:cNvSpPr txBox="1"/>
          <p:nvPr/>
        </p:nvSpPr>
        <p:spPr>
          <a:xfrm>
            <a:off x="548873" y="1443841"/>
            <a:ext cx="44183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202122"/>
                </a:solidFill>
                <a:effectLst/>
              </a:rPr>
              <a:t>Применение CSS к документам HTML основано на двух принципах:</a:t>
            </a:r>
          </a:p>
          <a:p>
            <a:pPr marL="0" indent="0" algn="l">
              <a:buNone/>
            </a:pPr>
            <a:endParaRPr lang="ru-RU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1" dirty="0">
                <a:solidFill>
                  <a:srgbClr val="202122"/>
                </a:solidFill>
                <a:effectLst/>
              </a:rPr>
              <a:t>наследование</a:t>
            </a:r>
            <a:r>
              <a:rPr lang="ru-RU" b="0" i="0" dirty="0">
                <a:solidFill>
                  <a:srgbClr val="202122"/>
                </a:solidFill>
                <a:effectLst/>
              </a:rPr>
              <a:t> заключается в том, что свойства CSS, объявленные для элементов-предков, почти всегда наследуются элементами-потомками.</a:t>
            </a:r>
          </a:p>
          <a:p>
            <a:pPr algn="l"/>
            <a:endParaRPr lang="ru-RU" b="0" i="0" dirty="0">
              <a:solidFill>
                <a:srgbClr val="2021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1" dirty="0">
                <a:solidFill>
                  <a:srgbClr val="202122"/>
                </a:solidFill>
                <a:effectLst/>
              </a:rPr>
              <a:t>каскадирование</a:t>
            </a:r>
            <a:r>
              <a:rPr lang="ru-RU" b="0" i="1" dirty="0">
                <a:solidFill>
                  <a:srgbClr val="202122"/>
                </a:solidFill>
                <a:effectLst/>
              </a:rPr>
              <a:t> </a:t>
            </a:r>
            <a:r>
              <a:rPr lang="ru-RU" b="0" i="0" dirty="0">
                <a:solidFill>
                  <a:srgbClr val="202122"/>
                </a:solidFill>
                <a:effectLst/>
              </a:rPr>
              <a:t>применяется в случае, когда какому-то элементу </a:t>
            </a:r>
            <a:r>
              <a:rPr lang="ru-RU" b="0" i="0" u="none" strike="noStrike" dirty="0">
                <a:solidFill>
                  <a:schemeClr val="tx1"/>
                </a:solidFill>
                <a:effectLst/>
              </a:rPr>
              <a:t>HTML</a:t>
            </a:r>
            <a:r>
              <a:rPr lang="ru-RU" b="0" i="0" dirty="0">
                <a:solidFill>
                  <a:srgbClr val="202122"/>
                </a:solidFill>
                <a:effectLst/>
              </a:rPr>
              <a:t> одновременно поставлено в соответствие более одного правила CSS, то есть, когда происходит конфликт значений этих правил. </a:t>
            </a:r>
          </a:p>
        </p:txBody>
      </p:sp>
    </p:spTree>
    <p:extLst>
      <p:ext uri="{BB962C8B-B14F-4D97-AF65-F5344CB8AC3E}">
        <p14:creationId xmlns:p14="http://schemas.microsoft.com/office/powerpoint/2010/main" val="2967757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19D-6EF5-43CE-986B-3A17BE16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ru-RU" dirty="0"/>
              <a:t>Каскад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8C1DF-EE1B-4E82-BA79-7D6A12B4F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73" y="756138"/>
            <a:ext cx="10652525" cy="559190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Каскад таблицы стилей, если говорить упрощённо, означает, что порядок следования правил в CSS имеет значение; когда применимы два правила, имеющие одинаковую специфичность, используется то, которое идёт в CSS последним.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2D555-7EE9-4A8B-97F0-4419F19F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208" y="1989286"/>
            <a:ext cx="5856410" cy="31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4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19D-6EF5-43CE-986B-3A17BE16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ru-RU" dirty="0"/>
              <a:t>Специфичность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8C1DF-EE1B-4E82-BA79-7D6A12B4F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73" y="756138"/>
            <a:ext cx="10652525" cy="6154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Специфичность</a:t>
            </a:r>
            <a:r>
              <a:rPr lang="ru-RU" dirty="0"/>
              <a:t> - это способ, с помощью которого браузеры определяют, какие значения свойств CSS наиболее соответствуют элементу и, следовательно, будут применены.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1FD46E-AF8A-438B-9899-304B70ED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494" y="1857742"/>
            <a:ext cx="2873904" cy="3007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03E19-F5A6-44B4-8499-0D5685F43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55" y="1371600"/>
            <a:ext cx="7391400" cy="4857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9AEC10-0AC4-4759-B638-68C031BAE7ED}"/>
              </a:ext>
            </a:extLst>
          </p:cNvPr>
          <p:cNvSpPr txBox="1"/>
          <p:nvPr/>
        </p:nvSpPr>
        <p:spPr>
          <a:xfrm>
            <a:off x="8236625" y="5090890"/>
            <a:ext cx="2665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 делать плохо:</a:t>
            </a:r>
            <a:br>
              <a:rPr lang="ru-RU" dirty="0"/>
            </a:br>
            <a:r>
              <a:rPr lang="en-US" i="1" dirty="0"/>
              <a:t>color: blue</a:t>
            </a:r>
            <a:r>
              <a:rPr lang="ru-RU" i="1" dirty="0"/>
              <a:t> </a:t>
            </a:r>
            <a:r>
              <a:rPr lang="en-US" i="1" dirty="0"/>
              <a:t>!important;</a:t>
            </a:r>
          </a:p>
        </p:txBody>
      </p:sp>
    </p:spTree>
    <p:extLst>
      <p:ext uri="{BB962C8B-B14F-4D97-AF65-F5344CB8AC3E}">
        <p14:creationId xmlns:p14="http://schemas.microsoft.com/office/powerpoint/2010/main" val="188474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19D-6EF5-43CE-986B-3A17BE16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en-US" dirty="0"/>
              <a:t>@layers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E5BF56-8BE2-48A9-94C2-E9F034E86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947" y="1203177"/>
            <a:ext cx="5356380" cy="3356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B9580D-56C9-4296-B112-67CD43792424}"/>
              </a:ext>
            </a:extLst>
          </p:cNvPr>
          <p:cNvSpPr txBox="1"/>
          <p:nvPr/>
        </p:nvSpPr>
        <p:spPr>
          <a:xfrm>
            <a:off x="474769" y="556846"/>
            <a:ext cx="10652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</a:rPr>
              <a:t>@layer</a:t>
            </a:r>
            <a:r>
              <a:rPr lang="ru-RU" dirty="0"/>
              <a:t> — это относительно новая возможность CSS, которая позволяет явно управлять порядком применения стилей, создавая слои каскада.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813BAB-8565-4C31-8DB8-1CF452AA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82" y="4611530"/>
            <a:ext cx="82677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02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30509-CA5B-451C-A894-3C5207CBA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827" y="2713893"/>
            <a:ext cx="7234927" cy="31019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C519D2-E02C-4912-AA98-84E09936D306}"/>
              </a:ext>
            </a:extLst>
          </p:cNvPr>
          <p:cNvSpPr txBox="1"/>
          <p:nvPr/>
        </p:nvSpPr>
        <p:spPr>
          <a:xfrm>
            <a:off x="559776" y="895594"/>
            <a:ext cx="110724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</a:rPr>
              <a:t>CSS переменные</a:t>
            </a:r>
            <a:r>
              <a:rPr lang="ru-RU" dirty="0"/>
              <a:t> (</a:t>
            </a:r>
            <a:r>
              <a:rPr lang="ru-RU" b="1" dirty="0">
                <a:effectLst/>
              </a:rPr>
              <a:t>пользовательские CSS-свойства</a:t>
            </a:r>
            <a:r>
              <a:rPr lang="ru-RU" dirty="0"/>
              <a:t>) это сущности, определяемые автором CSS, хранящие конкретные значения, которые можно повторно использовать в документе.</a:t>
            </a:r>
          </a:p>
          <a:p>
            <a:endParaRPr lang="ru-RU" dirty="0"/>
          </a:p>
          <a:p>
            <a:r>
              <a:rPr lang="ru-RU" dirty="0"/>
              <a:t>Они устанавливаются с использованием </a:t>
            </a:r>
            <a:r>
              <a:rPr lang="ru-RU" dirty="0" err="1"/>
              <a:t>custom</a:t>
            </a:r>
            <a:r>
              <a:rPr lang="ru-RU" dirty="0"/>
              <a:t> </a:t>
            </a:r>
            <a:r>
              <a:rPr lang="ru-RU" dirty="0" err="1"/>
              <a:t>property</a:t>
            </a:r>
            <a:r>
              <a:rPr lang="ru-RU" dirty="0"/>
              <a:t> нотации: например. </a:t>
            </a:r>
            <a:r>
              <a:rPr lang="ru-RU" b="1" i="1" dirty="0">
                <a:solidFill>
                  <a:srgbClr val="EB5757"/>
                </a:solidFill>
                <a:effectLst/>
                <a:latin typeface="SFMono-Regular"/>
              </a:rPr>
              <a:t>--</a:t>
            </a:r>
            <a:r>
              <a:rPr lang="ru-RU" b="1" i="1" dirty="0" err="1">
                <a:solidFill>
                  <a:srgbClr val="EB5757"/>
                </a:solidFill>
                <a:effectLst/>
                <a:latin typeface="SFMono-Regular"/>
              </a:rPr>
              <a:t>main-color</a:t>
            </a:r>
            <a:r>
              <a:rPr lang="ru-RU" b="1" i="1" dirty="0">
                <a:solidFill>
                  <a:srgbClr val="EB5757"/>
                </a:solidFill>
                <a:effectLst/>
                <a:latin typeface="SFMono-Regular"/>
              </a:rPr>
              <a:t>: </a:t>
            </a:r>
            <a:r>
              <a:rPr lang="ru-RU" b="1" i="1" dirty="0" err="1">
                <a:solidFill>
                  <a:srgbClr val="EB5757"/>
                </a:solidFill>
                <a:effectLst/>
                <a:latin typeface="SFMono-Regular"/>
              </a:rPr>
              <a:t>black</a:t>
            </a:r>
            <a:r>
              <a:rPr lang="ru-RU" b="1" i="1" dirty="0">
                <a:solidFill>
                  <a:srgbClr val="EB5757"/>
                </a:solidFill>
                <a:effectLst/>
                <a:latin typeface="SFMono-Regular"/>
              </a:rPr>
              <a:t>;</a:t>
            </a:r>
            <a:r>
              <a:rPr lang="ru-RU" b="1" dirty="0">
                <a:solidFill>
                  <a:srgbClr val="EB5757"/>
                </a:solidFill>
                <a:effectLst/>
                <a:latin typeface="SFMono-Regular"/>
              </a:rPr>
              <a:t> </a:t>
            </a:r>
          </a:p>
          <a:p>
            <a:r>
              <a:rPr lang="ru-RU" dirty="0"/>
              <a:t>доступны через функцию </a:t>
            </a:r>
            <a:r>
              <a:rPr lang="ru-RU" dirty="0" err="1">
                <a:effectLst/>
              </a:rPr>
              <a:t>var</a:t>
            </a:r>
            <a:r>
              <a:rPr lang="ru-RU" dirty="0">
                <a:effectLst/>
              </a:rPr>
              <a:t>()</a:t>
            </a:r>
            <a:r>
              <a:rPr lang="ru-RU" dirty="0"/>
              <a:t> (например. </a:t>
            </a:r>
            <a:r>
              <a:rPr lang="ru-RU" i="1" dirty="0" err="1">
                <a:solidFill>
                  <a:srgbClr val="EB5757"/>
                </a:solidFill>
                <a:effectLst/>
                <a:latin typeface="SFMono-Regular"/>
              </a:rPr>
              <a:t>color</a:t>
            </a:r>
            <a:r>
              <a:rPr lang="ru-RU" i="1" dirty="0">
                <a:solidFill>
                  <a:srgbClr val="EB5757"/>
                </a:solidFill>
                <a:effectLst/>
                <a:latin typeface="SFMono-Regular"/>
              </a:rPr>
              <a:t>: </a:t>
            </a:r>
            <a:r>
              <a:rPr lang="ru-RU" i="1" dirty="0" err="1">
                <a:solidFill>
                  <a:srgbClr val="EB5757"/>
                </a:solidFill>
                <a:effectLst/>
                <a:latin typeface="SFMono-Regular"/>
              </a:rPr>
              <a:t>var</a:t>
            </a:r>
            <a:r>
              <a:rPr lang="ru-RU" i="1" dirty="0">
                <a:solidFill>
                  <a:srgbClr val="EB5757"/>
                </a:solidFill>
                <a:effectLst/>
                <a:latin typeface="SFMono-Regular"/>
              </a:rPr>
              <a:t>(--</a:t>
            </a:r>
            <a:r>
              <a:rPr lang="ru-RU" i="1" dirty="0" err="1">
                <a:solidFill>
                  <a:srgbClr val="EB5757"/>
                </a:solidFill>
                <a:effectLst/>
                <a:latin typeface="SFMono-Regular"/>
              </a:rPr>
              <a:t>main-color</a:t>
            </a:r>
            <a:r>
              <a:rPr lang="ru-RU" i="1" dirty="0">
                <a:solidFill>
                  <a:srgbClr val="EB5757"/>
                </a:solidFill>
                <a:effectLst/>
                <a:latin typeface="SFMono-Regular"/>
              </a:rPr>
              <a:t>);</a:t>
            </a:r>
            <a:r>
              <a:rPr lang="ru-RU" dirty="0"/>
              <a:t>) .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BB247E-6B8F-44A1-B1D3-FB1B1F42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Css</a:t>
            </a:r>
            <a:r>
              <a:rPr lang="en-US" dirty="0"/>
              <a:t> </a:t>
            </a:r>
            <a:r>
              <a:rPr lang="ru-RU" dirty="0">
                <a:effectLst/>
              </a:rPr>
              <a:t>переменные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320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BB247E-6B8F-44A1-B1D3-FB1B1F42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Css</a:t>
            </a:r>
            <a:r>
              <a:rPr lang="en-US" dirty="0"/>
              <a:t> </a:t>
            </a:r>
            <a:r>
              <a:rPr lang="ru-RU" dirty="0">
                <a:effectLst/>
              </a:rPr>
              <a:t>переменные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D1A69-9A6C-46DC-8AE8-B11D9DCF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442" y="690229"/>
            <a:ext cx="3815292" cy="59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5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BB247E-6B8F-44A1-B1D3-FB1B1F42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Css</a:t>
            </a:r>
            <a:r>
              <a:rPr lang="en-US" dirty="0"/>
              <a:t> </a:t>
            </a:r>
            <a:r>
              <a:rPr lang="ru-RU" dirty="0">
                <a:effectLst/>
              </a:rPr>
              <a:t>переменные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A006D1-BEDC-49F9-A79A-7FB027059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879" y="746620"/>
            <a:ext cx="3992884" cy="569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5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BB247E-6B8F-44A1-B1D3-FB1B1F42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Css</a:t>
            </a:r>
            <a:r>
              <a:rPr lang="en-US" dirty="0"/>
              <a:t> variables vs </a:t>
            </a:r>
            <a:r>
              <a:rPr lang="en-US" dirty="0" err="1"/>
              <a:t>Scss</a:t>
            </a:r>
            <a:r>
              <a:rPr lang="en-US" dirty="0"/>
              <a:t>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A605A-6AE9-4E70-B3C1-D1034B63FF58}"/>
              </a:ext>
            </a:extLst>
          </p:cNvPr>
          <p:cNvSpPr txBox="1"/>
          <p:nvPr/>
        </p:nvSpPr>
        <p:spPr>
          <a:xfrm>
            <a:off x="548874" y="932934"/>
            <a:ext cx="4048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❌ CSS </a:t>
            </a:r>
            <a:r>
              <a:rPr lang="ru-RU" dirty="0"/>
              <a:t>переменные в медиа-запросах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8BE26-8EF2-4D3F-9F84-9FB284327381}"/>
              </a:ext>
            </a:extLst>
          </p:cNvPr>
          <p:cNvSpPr txBox="1"/>
          <p:nvPr/>
        </p:nvSpPr>
        <p:spPr>
          <a:xfrm>
            <a:off x="548874" y="1678354"/>
            <a:ext cx="4691993" cy="28623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/>
              <a:t>:root {</a:t>
            </a:r>
          </a:p>
          <a:p>
            <a:r>
              <a:rPr lang="en-US" i="1" dirty="0"/>
              <a:t>  --mobile-breakpoint: 768px;</a:t>
            </a:r>
          </a:p>
          <a:p>
            <a:r>
              <a:rPr lang="en-US" i="1" dirty="0"/>
              <a:t>}</a:t>
            </a:r>
          </a:p>
          <a:p>
            <a:endParaRPr lang="en-US" dirty="0"/>
          </a:p>
          <a:p>
            <a:r>
              <a:rPr lang="en-US" dirty="0"/>
              <a:t>/* ❌ </a:t>
            </a:r>
            <a:r>
              <a:rPr lang="en-US" dirty="0" err="1"/>
              <a:t>Так</a:t>
            </a:r>
            <a:r>
              <a:rPr lang="en-US" dirty="0"/>
              <a:t> НЕ </a:t>
            </a:r>
            <a:r>
              <a:rPr lang="en-US" dirty="0" err="1"/>
              <a:t>работает</a:t>
            </a:r>
            <a:r>
              <a:rPr lang="en-US" dirty="0"/>
              <a:t>! */</a:t>
            </a:r>
          </a:p>
          <a:p>
            <a:r>
              <a:rPr lang="en-US" i="1" dirty="0"/>
              <a:t>@media (max-width: var</a:t>
            </a:r>
            <a:r>
              <a:rPr lang="en-US" b="1" i="1" dirty="0"/>
              <a:t>(--mobile-breakpoint</a:t>
            </a:r>
            <a:r>
              <a:rPr lang="en-US" i="1" dirty="0"/>
              <a:t>)) {</a:t>
            </a:r>
          </a:p>
          <a:p>
            <a:r>
              <a:rPr lang="en-US" i="1" dirty="0"/>
              <a:t>  .container {</a:t>
            </a:r>
          </a:p>
          <a:p>
            <a:r>
              <a:rPr lang="en-US" i="1" dirty="0"/>
              <a:t>    padding: 10px;</a:t>
            </a:r>
          </a:p>
          <a:p>
            <a:r>
              <a:rPr lang="en-US" i="1" dirty="0"/>
              <a:t>  }</a:t>
            </a:r>
          </a:p>
          <a:p>
            <a:r>
              <a:rPr lang="en-US" i="1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FA854-360B-4447-8D01-A325A73494D8}"/>
              </a:ext>
            </a:extLst>
          </p:cNvPr>
          <p:cNvSpPr txBox="1"/>
          <p:nvPr/>
        </p:nvSpPr>
        <p:spPr>
          <a:xfrm>
            <a:off x="6096000" y="932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SCSS </a:t>
            </a:r>
            <a:r>
              <a:rPr lang="ru-RU" dirty="0"/>
              <a:t>переменные в медиа-запросах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E87C6-2C60-4C76-ADCE-10A749CB6E14}"/>
              </a:ext>
            </a:extLst>
          </p:cNvPr>
          <p:cNvSpPr txBox="1"/>
          <p:nvPr/>
        </p:nvSpPr>
        <p:spPr>
          <a:xfrm>
            <a:off x="6223000" y="1678353"/>
            <a:ext cx="4978399" cy="28623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/>
              <a:t>$mobile-breakpoint: 768px;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/* ✅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! */</a:t>
            </a:r>
          </a:p>
          <a:p>
            <a:r>
              <a:rPr lang="en-US" i="1" dirty="0"/>
              <a:t>@media (max-width: </a:t>
            </a:r>
            <a:r>
              <a:rPr lang="en-US" b="1" i="1" dirty="0"/>
              <a:t>$mobile-breakpoint</a:t>
            </a:r>
            <a:r>
              <a:rPr lang="en-US" i="1" dirty="0"/>
              <a:t>) {</a:t>
            </a:r>
          </a:p>
          <a:p>
            <a:r>
              <a:rPr lang="en-US" i="1" dirty="0"/>
              <a:t>  .container {</a:t>
            </a:r>
          </a:p>
          <a:p>
            <a:r>
              <a:rPr lang="en-US" i="1" dirty="0"/>
              <a:t>    padding: 10px;</a:t>
            </a:r>
          </a:p>
          <a:p>
            <a:r>
              <a:rPr lang="en-US" i="1" dirty="0"/>
              <a:t>  }</a:t>
            </a:r>
          </a:p>
          <a:p>
            <a:r>
              <a:rPr lang="en-US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5393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FA5B682-3B2F-48D4-A42B-137275A8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98" y="185688"/>
            <a:ext cx="8557203" cy="62528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D5A3DF-4437-4077-8104-EF345E9B4AB1}"/>
              </a:ext>
            </a:extLst>
          </p:cNvPr>
          <p:cNvSpPr txBox="1"/>
          <p:nvPr/>
        </p:nvSpPr>
        <p:spPr>
          <a:xfrm>
            <a:off x="5161327" y="643854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https://caniuse.com/</a:t>
            </a:r>
          </a:p>
        </p:txBody>
      </p:sp>
    </p:spTree>
    <p:extLst>
      <p:ext uri="{BB962C8B-B14F-4D97-AF65-F5344CB8AC3E}">
        <p14:creationId xmlns:p14="http://schemas.microsoft.com/office/powerpoint/2010/main" val="2748755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BB247E-6B8F-44A1-B1D3-FB1B1F42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4" y="185107"/>
            <a:ext cx="10652526" cy="37173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Современные решения проблемы совместимости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A605A-6AE9-4E70-B3C1-D1034B63FF58}"/>
              </a:ext>
            </a:extLst>
          </p:cNvPr>
          <p:cNvSpPr txBox="1"/>
          <p:nvPr/>
        </p:nvSpPr>
        <p:spPr>
          <a:xfrm>
            <a:off x="4660491" y="556846"/>
            <a:ext cx="1562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Autoprefixer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8BE26-8EF2-4D3F-9F84-9FB284327381}"/>
              </a:ext>
            </a:extLst>
          </p:cNvPr>
          <p:cNvSpPr txBox="1"/>
          <p:nvPr/>
        </p:nvSpPr>
        <p:spPr>
          <a:xfrm>
            <a:off x="548874" y="1453908"/>
            <a:ext cx="4691993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/>
              <a:t>.container {</a:t>
            </a:r>
          </a:p>
          <a:p>
            <a:r>
              <a:rPr lang="en-US" i="1" dirty="0"/>
              <a:t>  display: flex;</a:t>
            </a:r>
          </a:p>
          <a:p>
            <a:r>
              <a:rPr lang="en-US" i="1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E87C6-2C60-4C76-ADCE-10A749CB6E14}"/>
              </a:ext>
            </a:extLst>
          </p:cNvPr>
          <p:cNvSpPr txBox="1"/>
          <p:nvPr/>
        </p:nvSpPr>
        <p:spPr>
          <a:xfrm>
            <a:off x="6411779" y="1176909"/>
            <a:ext cx="4978399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/>
              <a:t>.container {</a:t>
            </a:r>
          </a:p>
          <a:p>
            <a:r>
              <a:rPr lang="en-US" i="1" dirty="0"/>
              <a:t>  display: </a:t>
            </a:r>
            <a:r>
              <a:rPr lang="en-US" dirty="0"/>
              <a:t>-</a:t>
            </a:r>
            <a:r>
              <a:rPr lang="en-US" dirty="0" err="1"/>
              <a:t>webkit</a:t>
            </a:r>
            <a:r>
              <a:rPr lang="en-US" dirty="0"/>
              <a:t>-box</a:t>
            </a:r>
            <a:r>
              <a:rPr lang="en-US" i="1" dirty="0"/>
              <a:t>;</a:t>
            </a:r>
            <a:endParaRPr lang="ru-RU" i="1" dirty="0"/>
          </a:p>
          <a:p>
            <a:r>
              <a:rPr lang="ru-RU" i="1" dirty="0"/>
              <a:t> </a:t>
            </a:r>
            <a:r>
              <a:rPr lang="en-US" i="1" dirty="0"/>
              <a:t> display: </a:t>
            </a:r>
            <a:r>
              <a:rPr lang="ru-RU" i="1" dirty="0"/>
              <a:t>-</a:t>
            </a:r>
            <a:r>
              <a:rPr lang="en-US" dirty="0" err="1"/>
              <a:t>ms</a:t>
            </a:r>
            <a:r>
              <a:rPr lang="en-US" dirty="0"/>
              <a:t>-flexbox</a:t>
            </a:r>
            <a:r>
              <a:rPr lang="en-US" i="1" dirty="0"/>
              <a:t>;</a:t>
            </a:r>
            <a:endParaRPr lang="ru-RU" i="1" dirty="0"/>
          </a:p>
          <a:p>
            <a:r>
              <a:rPr lang="ru-RU" i="1" dirty="0"/>
              <a:t> </a:t>
            </a:r>
            <a:r>
              <a:rPr lang="en-US" i="1" dirty="0"/>
              <a:t> display: flex;</a:t>
            </a:r>
          </a:p>
          <a:p>
            <a:r>
              <a:rPr lang="en-US" i="1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3023F-6529-4CFB-A553-7F4576B6A2E0}"/>
              </a:ext>
            </a:extLst>
          </p:cNvPr>
          <p:cNvSpPr txBox="1"/>
          <p:nvPr/>
        </p:nvSpPr>
        <p:spPr>
          <a:xfrm>
            <a:off x="2608832" y="780701"/>
            <a:ext cx="54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До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CF19B-CB88-42F1-A1F7-55050F49FF47}"/>
              </a:ext>
            </a:extLst>
          </p:cNvPr>
          <p:cNvSpPr txBox="1"/>
          <p:nvPr/>
        </p:nvSpPr>
        <p:spPr>
          <a:xfrm>
            <a:off x="8492285" y="748267"/>
            <a:ext cx="817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После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46E03-CDA7-46D1-A255-D9257306A03D}"/>
              </a:ext>
            </a:extLst>
          </p:cNvPr>
          <p:cNvSpPr txBox="1"/>
          <p:nvPr/>
        </p:nvSpPr>
        <p:spPr>
          <a:xfrm>
            <a:off x="1893927" y="3903279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browserslistrc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40C65-5E07-4602-A264-0C736B2CB95C}"/>
              </a:ext>
            </a:extLst>
          </p:cNvPr>
          <p:cNvSpPr txBox="1"/>
          <p:nvPr/>
        </p:nvSpPr>
        <p:spPr>
          <a:xfrm>
            <a:off x="548874" y="4272611"/>
            <a:ext cx="6595245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i="1" dirty="0"/>
              <a:t>"</a:t>
            </a:r>
            <a:r>
              <a:rPr lang="ru-RU" i="1" dirty="0" err="1"/>
              <a:t>browserslist</a:t>
            </a:r>
            <a:r>
              <a:rPr lang="ru-RU" i="1" dirty="0"/>
              <a:t>": [</a:t>
            </a:r>
          </a:p>
          <a:p>
            <a:r>
              <a:rPr lang="ru-RU" i="1" dirty="0"/>
              <a:t>  "</a:t>
            </a:r>
            <a:r>
              <a:rPr lang="ru-RU" i="1" dirty="0" err="1"/>
              <a:t>last</a:t>
            </a:r>
            <a:r>
              <a:rPr lang="ru-RU" i="1" dirty="0"/>
              <a:t> 2 </a:t>
            </a:r>
            <a:r>
              <a:rPr lang="ru-RU" i="1" dirty="0" err="1"/>
              <a:t>versions</a:t>
            </a:r>
            <a:r>
              <a:rPr lang="ru-RU" i="1" dirty="0"/>
              <a:t>",   // Последние 2 версии каждого браузера</a:t>
            </a:r>
          </a:p>
          <a:p>
            <a:r>
              <a:rPr lang="ru-RU" i="1" dirty="0"/>
              <a:t>  "&gt; 1%",                    // Браузеры с долей рынка больше 1%</a:t>
            </a:r>
          </a:p>
          <a:p>
            <a:r>
              <a:rPr lang="ru-RU" i="1" dirty="0"/>
              <a:t>  "</a:t>
            </a:r>
            <a:r>
              <a:rPr lang="ru-RU" i="1" dirty="0" err="1"/>
              <a:t>not</a:t>
            </a:r>
            <a:r>
              <a:rPr lang="ru-RU" i="1" dirty="0"/>
              <a:t> </a:t>
            </a:r>
            <a:r>
              <a:rPr lang="ru-RU" i="1" dirty="0" err="1"/>
              <a:t>dead</a:t>
            </a:r>
            <a:r>
              <a:rPr lang="ru-RU" i="1" dirty="0"/>
              <a:t>"            // Исключить "мёртвые" браузеры</a:t>
            </a:r>
          </a:p>
          <a:p>
            <a:r>
              <a:rPr lang="ru-RU" i="1" dirty="0"/>
              <a:t>]</a:t>
            </a:r>
            <a:endParaRPr lang="en-US" i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13F1328-9933-41B7-B2E6-0ADC5CCE9566}"/>
              </a:ext>
            </a:extLst>
          </p:cNvPr>
          <p:cNvSpPr/>
          <p:nvPr/>
        </p:nvSpPr>
        <p:spPr>
          <a:xfrm>
            <a:off x="5385933" y="165869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1302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306</TotalTime>
  <Words>436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Corbel</vt:lpstr>
      <vt:lpstr>Gill Sans MT</vt:lpstr>
      <vt:lpstr>SFMono-Regular</vt:lpstr>
      <vt:lpstr>Parcel</vt:lpstr>
      <vt:lpstr>4. css</vt:lpstr>
      <vt:lpstr>PowerPoint Presentation</vt:lpstr>
      <vt:lpstr>PowerPoint Presentation</vt:lpstr>
      <vt:lpstr>Способы подключения CSS</vt:lpstr>
      <vt:lpstr>PowerPoint Presentation</vt:lpstr>
      <vt:lpstr>PowerPoint Presentation</vt:lpstr>
      <vt:lpstr>PowerPoint Presentation</vt:lpstr>
      <vt:lpstr>Каскады в CSS</vt:lpstr>
      <vt:lpstr>Каскад</vt:lpstr>
      <vt:lpstr>Специфичность</vt:lpstr>
      <vt:lpstr>@layers</vt:lpstr>
      <vt:lpstr>Css переменные</vt:lpstr>
      <vt:lpstr>Css переменные</vt:lpstr>
      <vt:lpstr>Css переменные</vt:lpstr>
      <vt:lpstr>Css variables vs Scss variables</vt:lpstr>
      <vt:lpstr>PowerPoint Presentation</vt:lpstr>
      <vt:lpstr>Современные решения проблемы совместимости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css. Бэм</dc:title>
  <dc:creator>roman</dc:creator>
  <cp:lastModifiedBy>рома борисов</cp:lastModifiedBy>
  <cp:revision>138</cp:revision>
  <dcterms:created xsi:type="dcterms:W3CDTF">2023-10-04T17:53:00Z</dcterms:created>
  <dcterms:modified xsi:type="dcterms:W3CDTF">2025-10-03T13:48:59Z</dcterms:modified>
</cp:coreProperties>
</file>