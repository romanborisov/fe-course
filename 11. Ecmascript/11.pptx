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76" r:id="rId3"/>
    <p:sldId id="277" r:id="rId4"/>
    <p:sldId id="278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9" r:id="rId14"/>
    <p:sldId id="288" r:id="rId15"/>
    <p:sldId id="290" r:id="rId16"/>
    <p:sldId id="291" r:id="rId17"/>
    <p:sldId id="292" r:id="rId18"/>
    <p:sldId id="29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10/31/2025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10/31/2025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10/31/2025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10/31/2025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10/31/2025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10/31/2025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10/31/2025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10/31/2025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10/31/2025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079C5-F0EE-4C23-A7A9-56703E5192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11. </a:t>
            </a:r>
            <a:r>
              <a:rPr lang="en-US" dirty="0" err="1"/>
              <a:t>ECmascript</a:t>
            </a:r>
            <a:r>
              <a:rPr lang="en-US" dirty="0"/>
              <a:t> </a:t>
            </a:r>
            <a:r>
              <a:rPr lang="ru-RU" dirty="0"/>
              <a:t>и др.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344D52-4F9E-4B71-B89F-EC8C12186B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206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623B-BE3C-4E32-80F2-080E93456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74" y="50291"/>
            <a:ext cx="11924251" cy="34753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ECmascript</a:t>
            </a:r>
            <a:endParaRPr lang="en-US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0E3CBCA6-55F4-4D54-B875-59F1BC3BA1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BCF294-2C01-48B4-8C17-44387E101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018" y="1437265"/>
            <a:ext cx="6839964" cy="3983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512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623B-BE3C-4E32-80F2-080E93456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74" y="50291"/>
            <a:ext cx="11924251" cy="34753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ECmascript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01BA77-F116-44B9-962A-C0F248D6DA04}"/>
              </a:ext>
            </a:extLst>
          </p:cNvPr>
          <p:cNvSpPr txBox="1"/>
          <p:nvPr/>
        </p:nvSpPr>
        <p:spPr>
          <a:xfrm>
            <a:off x="133874" y="659518"/>
            <a:ext cx="11924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 err="1"/>
              <a:t>ECMAScript</a:t>
            </a:r>
            <a:r>
              <a:rPr lang="ru-RU" b="1" dirty="0"/>
              <a:t> </a:t>
            </a:r>
            <a:r>
              <a:rPr lang="ru-RU" dirty="0"/>
              <a:t>- это стандарт, на котором основан JavaScript. Его часто называют ES.</a:t>
            </a:r>
            <a:endParaRPr lang="en-US" dirty="0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19025A17-E5E6-47D7-B884-5788B93447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916260-5115-448F-B1F7-9E2A82B0B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18" y="1777149"/>
            <a:ext cx="10557164" cy="330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220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623B-BE3C-4E32-80F2-080E93456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74" y="50291"/>
            <a:ext cx="11924251" cy="347532"/>
          </a:xfrm>
        </p:spPr>
        <p:txBody>
          <a:bodyPr>
            <a:normAutofit fontScale="90000"/>
          </a:bodyPr>
          <a:lstStyle/>
          <a:p>
            <a:r>
              <a:rPr lang="ru-RU" dirty="0"/>
              <a:t>Деструктуризация { …</a:t>
            </a:r>
            <a:r>
              <a:rPr lang="en-US" dirty="0"/>
              <a:t>obj }, […array]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01BA77-F116-44B9-962A-C0F248D6DA04}"/>
              </a:ext>
            </a:extLst>
          </p:cNvPr>
          <p:cNvSpPr txBox="1"/>
          <p:nvPr/>
        </p:nvSpPr>
        <p:spPr>
          <a:xfrm>
            <a:off x="133874" y="659518"/>
            <a:ext cx="119242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dirty="0">
                <a:effectLst/>
              </a:rPr>
              <a:t>Деструктурирующее присваивание</a:t>
            </a:r>
            <a:r>
              <a:rPr lang="ru-RU" dirty="0"/>
              <a:t> – это специальный синтаксис, который позволяет нам «распаковать» массивы или объекты в несколько переменных, так как иногда они более удобны.</a:t>
            </a:r>
            <a:endParaRPr lang="en-US" dirty="0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19025A17-E5E6-47D7-B884-5788B93447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9434E0-C1BD-4CDD-8A05-610138E8A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74" y="1528762"/>
            <a:ext cx="4391025" cy="26003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3DB9960-E19B-4288-B618-CB4F9D5E1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930" y="2228849"/>
            <a:ext cx="5572125" cy="12001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A698BEE-70AB-4094-8597-87CDC8BAF856}"/>
              </a:ext>
            </a:extLst>
          </p:cNvPr>
          <p:cNvSpPr txBox="1"/>
          <p:nvPr/>
        </p:nvSpPr>
        <p:spPr>
          <a:xfrm>
            <a:off x="133874" y="4476750"/>
            <a:ext cx="118661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«Деструктуризация» не уничтожает массив. Оно вообще ничего не делает с правой частью присваивания, его задача – только скопировать нужные значения в переменные. Это просто короткий вариант записи: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AE676FF-2804-41DC-85BC-BB0E4FC9C9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3103" y="5329238"/>
            <a:ext cx="3581400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283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623B-BE3C-4E32-80F2-080E93456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74" y="50291"/>
            <a:ext cx="11924251" cy="347532"/>
          </a:xfrm>
        </p:spPr>
        <p:txBody>
          <a:bodyPr>
            <a:normAutofit fontScale="90000"/>
          </a:bodyPr>
          <a:lstStyle/>
          <a:p>
            <a:r>
              <a:rPr lang="ru-RU" dirty="0"/>
              <a:t>Деструктуризация { …</a:t>
            </a:r>
            <a:r>
              <a:rPr lang="en-US" dirty="0"/>
              <a:t>obj }, […array]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19025A17-E5E6-47D7-B884-5788B93447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269907-1E6F-4318-BABF-84B0DF37E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74" y="737260"/>
            <a:ext cx="6741939" cy="13317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FA347E-BE47-4F89-9B28-4F2768973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75" y="2256869"/>
            <a:ext cx="6997258" cy="15143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FE33BD-385A-4669-8FC8-C11FBB1D9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874" y="3928047"/>
            <a:ext cx="7548625" cy="27666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A40AD7-6790-4981-9635-C9FD1BEBDEFF}"/>
              </a:ext>
            </a:extLst>
          </p:cNvPr>
          <p:cNvSpPr txBox="1"/>
          <p:nvPr/>
        </p:nvSpPr>
        <p:spPr>
          <a:xfrm>
            <a:off x="6917773" y="1218464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(1)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3E5B26-E02A-43F6-9AA0-CAD70671C1BC}"/>
              </a:ext>
            </a:extLst>
          </p:cNvPr>
          <p:cNvSpPr txBox="1"/>
          <p:nvPr/>
        </p:nvSpPr>
        <p:spPr>
          <a:xfrm>
            <a:off x="7131133" y="282939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(2)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9F3E12-1A58-4973-BA5B-F198CB7A3B68}"/>
              </a:ext>
            </a:extLst>
          </p:cNvPr>
          <p:cNvSpPr txBox="1"/>
          <p:nvPr/>
        </p:nvSpPr>
        <p:spPr>
          <a:xfrm>
            <a:off x="7682500" y="5126706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(3)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49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623B-BE3C-4E32-80F2-080E93456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74" y="50291"/>
            <a:ext cx="11924251" cy="347532"/>
          </a:xfrm>
        </p:spPr>
        <p:txBody>
          <a:bodyPr>
            <a:normAutofit fontScale="90000"/>
          </a:bodyPr>
          <a:lstStyle/>
          <a:p>
            <a:r>
              <a:rPr lang="ru-RU" dirty="0"/>
              <a:t>Деструктуризация { …</a:t>
            </a:r>
            <a:r>
              <a:rPr lang="en-US" dirty="0"/>
              <a:t>obj }, […array]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2C4A24-6463-4A09-8A37-A7D54759BF33}"/>
              </a:ext>
            </a:extLst>
          </p:cNvPr>
          <p:cNvSpPr txBox="1"/>
          <p:nvPr/>
        </p:nvSpPr>
        <p:spPr>
          <a:xfrm>
            <a:off x="133873" y="644114"/>
            <a:ext cx="11924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Деструктурирующее присваивание также работает с объектами.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80CF53E-B288-4563-9B32-4CAC78504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51" y="1136167"/>
            <a:ext cx="3724275" cy="5905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65103F6-7238-4E3F-9503-2F1E75499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563" y="2879376"/>
            <a:ext cx="4505325" cy="31813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1BCFC0B-D4D7-4017-B04D-C7085F321AC7}"/>
              </a:ext>
            </a:extLst>
          </p:cNvPr>
          <p:cNvSpPr txBox="1"/>
          <p:nvPr/>
        </p:nvSpPr>
        <p:spPr>
          <a:xfrm>
            <a:off x="133872" y="2233045"/>
            <a:ext cx="119242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Свойства 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options.title</a:t>
            </a:r>
            <a:r>
              <a:rPr lang="ru-RU" dirty="0"/>
              <a:t>, 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options.width</a:t>
            </a:r>
            <a:r>
              <a:rPr lang="ru-RU" dirty="0"/>
              <a:t> и 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options.height</a:t>
            </a:r>
            <a:r>
              <a:rPr lang="ru-RU" dirty="0"/>
              <a:t> присваиваются соответствующим переменным. Порядок не имеет значения.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65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623B-BE3C-4E32-80F2-080E93456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74" y="50291"/>
            <a:ext cx="11924251" cy="347532"/>
          </a:xfrm>
        </p:spPr>
        <p:txBody>
          <a:bodyPr>
            <a:normAutofit fontScale="90000"/>
          </a:bodyPr>
          <a:lstStyle/>
          <a:p>
            <a:r>
              <a:rPr lang="ru-RU" dirty="0"/>
              <a:t>Деструктуризация { …</a:t>
            </a:r>
            <a:r>
              <a:rPr lang="en-US" dirty="0"/>
              <a:t>obj }, […array]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01801C-9A67-4B43-A132-94FFBF385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74" y="1887743"/>
            <a:ext cx="5772150" cy="35337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B65964-4EC4-468C-83DD-4A8995FFE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6508" y="842962"/>
            <a:ext cx="3438525" cy="517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647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623B-BE3C-4E32-80F2-080E93456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74" y="50291"/>
            <a:ext cx="11924251" cy="347532"/>
          </a:xfrm>
        </p:spPr>
        <p:txBody>
          <a:bodyPr>
            <a:normAutofit fontScale="90000"/>
          </a:bodyPr>
          <a:lstStyle/>
          <a:p>
            <a:r>
              <a:rPr lang="ru-RU" dirty="0"/>
              <a:t>Стрелочные функции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214816-C26B-4841-B8CA-0D264B987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74" y="1116114"/>
            <a:ext cx="4676775" cy="10382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1E51F6-BFCA-43C8-BE6B-34A761CB2A88}"/>
              </a:ext>
            </a:extLst>
          </p:cNvPr>
          <p:cNvSpPr txBox="1"/>
          <p:nvPr/>
        </p:nvSpPr>
        <p:spPr>
          <a:xfrm>
            <a:off x="1105156" y="788944"/>
            <a:ext cx="2734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Обычная запись функции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29C026-CC83-4CCC-9746-67710C5AB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010" y="1116114"/>
            <a:ext cx="5524500" cy="19145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FF034C9-BC59-403C-B250-C9EF075D112E}"/>
              </a:ext>
            </a:extLst>
          </p:cNvPr>
          <p:cNvSpPr txBox="1"/>
          <p:nvPr/>
        </p:nvSpPr>
        <p:spPr>
          <a:xfrm>
            <a:off x="7724065" y="788944"/>
            <a:ext cx="2266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Стрелочная функция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EE80AF3-96D3-44F1-998E-926301138F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3095" y="3827362"/>
            <a:ext cx="7391400" cy="23050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D3F258F-4475-4DC2-A1AF-378C22673302}"/>
              </a:ext>
            </a:extLst>
          </p:cNvPr>
          <p:cNvSpPr txBox="1"/>
          <p:nvPr/>
        </p:nvSpPr>
        <p:spPr>
          <a:xfrm>
            <a:off x="4889186" y="3429000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Примеры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144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623B-BE3C-4E32-80F2-080E93456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74" y="50291"/>
            <a:ext cx="11924251" cy="347532"/>
          </a:xfrm>
        </p:spPr>
        <p:txBody>
          <a:bodyPr>
            <a:normAutofit fontScale="90000"/>
          </a:bodyPr>
          <a:lstStyle/>
          <a:p>
            <a:r>
              <a:rPr lang="ru-RU" dirty="0"/>
              <a:t>Стрелочные функции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1E51F6-BFCA-43C8-BE6B-34A761CB2A88}"/>
              </a:ext>
            </a:extLst>
          </p:cNvPr>
          <p:cNvSpPr txBox="1"/>
          <p:nvPr/>
        </p:nvSpPr>
        <p:spPr>
          <a:xfrm>
            <a:off x="133874" y="397823"/>
            <a:ext cx="1043381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effectLst/>
              </a:rPr>
              <a:t>Отличия между стрелочными функциями и обычными функциями:</a:t>
            </a:r>
          </a:p>
          <a:p>
            <a:pPr marL="342900" indent="-342900">
              <a:buAutoNum type="arabicPeriod"/>
            </a:pPr>
            <a:r>
              <a:rPr lang="ru-RU" b="1" dirty="0"/>
              <a:t>Краткий синтаксис</a:t>
            </a:r>
          </a:p>
          <a:p>
            <a:pPr marL="342900" indent="-342900">
              <a:buAutoNum type="arabicPeriod"/>
            </a:pPr>
            <a:r>
              <a:rPr lang="ru-RU" b="1" dirty="0">
                <a:effectLst/>
              </a:rPr>
              <a:t>Отсутствие собственного </a:t>
            </a:r>
            <a:r>
              <a:rPr lang="ru-RU" b="1" dirty="0" err="1">
                <a:solidFill>
                  <a:srgbClr val="EB5757"/>
                </a:solidFill>
                <a:effectLst/>
                <a:latin typeface="SFMono-Regular"/>
              </a:rPr>
              <a:t>this</a:t>
            </a:r>
            <a:r>
              <a:rPr lang="ru-RU" b="1" dirty="0">
                <a:effectLst/>
              </a:rPr>
              <a:t>: </a:t>
            </a:r>
            <a:r>
              <a:rPr lang="ru-RU" dirty="0"/>
              <a:t>Стрелочные функции не имеют своего собственного контекста 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this</a:t>
            </a:r>
            <a:r>
              <a:rPr lang="ru-RU" dirty="0"/>
              <a:t>. </a:t>
            </a:r>
          </a:p>
          <a:p>
            <a:r>
              <a:rPr lang="ru-RU" dirty="0"/>
              <a:t>Они заимствуют 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this</a:t>
            </a:r>
            <a:r>
              <a:rPr lang="ru-RU" dirty="0"/>
              <a:t> из родительской области видимости, в которой были созданы.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33880E-0C54-4E2C-BE23-DABEC68FB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4" y="1598152"/>
            <a:ext cx="4624449" cy="33360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742C012-3684-4D85-8935-AAFCC3B68953}"/>
              </a:ext>
            </a:extLst>
          </p:cNvPr>
          <p:cNvSpPr txBox="1"/>
          <p:nvPr/>
        </p:nvSpPr>
        <p:spPr>
          <a:xfrm>
            <a:off x="5766419" y="5259848"/>
            <a:ext cx="60950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Стрелочная функция не создает собственный контекст исполнения, она использует внешний. В примере, </a:t>
            </a:r>
            <a:r>
              <a:rPr lang="ru-RU" i="1" dirty="0" err="1">
                <a:solidFill>
                  <a:srgbClr val="EB5757"/>
                </a:solidFill>
                <a:effectLst/>
                <a:latin typeface="SFMono-Regular"/>
              </a:rPr>
              <a:t>myMethod</a:t>
            </a:r>
            <a:r>
              <a:rPr lang="ru-RU" i="1" dirty="0">
                <a:solidFill>
                  <a:srgbClr val="EB5757"/>
                </a:solidFill>
                <a:effectLst/>
                <a:latin typeface="SFMono-Regular"/>
              </a:rPr>
              <a:t>()</a:t>
            </a:r>
            <a:r>
              <a:rPr lang="ru-RU" dirty="0">
                <a:solidFill>
                  <a:srgbClr val="EB5757"/>
                </a:solidFill>
                <a:effectLst/>
                <a:latin typeface="SFMono-Regular"/>
              </a:rPr>
              <a:t> </a:t>
            </a:r>
            <a:r>
              <a:rPr lang="ru-RU" dirty="0"/>
              <a:t>это внешняя функция для стрелочной функции </a:t>
            </a:r>
            <a:r>
              <a:rPr lang="ru-RU" i="1" dirty="0" err="1">
                <a:solidFill>
                  <a:srgbClr val="EB5757"/>
                </a:solidFill>
                <a:effectLst/>
                <a:latin typeface="SFMono-Regular"/>
              </a:rPr>
              <a:t>callback</a:t>
            </a:r>
            <a:r>
              <a:rPr lang="ru-RU" i="1" dirty="0">
                <a:solidFill>
                  <a:srgbClr val="EB5757"/>
                </a:solidFill>
                <a:effectLst/>
                <a:latin typeface="SFMono-Regular"/>
              </a:rPr>
              <a:t>()</a:t>
            </a:r>
            <a:r>
              <a:rPr lang="ru-RU" dirty="0"/>
              <a:t>: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0447F7-23A3-470C-A0FA-A763A328C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290" y="1598152"/>
            <a:ext cx="4267200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378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623B-BE3C-4E32-80F2-080E93456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74" y="50291"/>
            <a:ext cx="11924251" cy="347532"/>
          </a:xfrm>
        </p:spPr>
        <p:txBody>
          <a:bodyPr>
            <a:normAutofit fontScale="90000"/>
          </a:bodyPr>
          <a:lstStyle/>
          <a:p>
            <a:r>
              <a:rPr lang="ru-RU" dirty="0"/>
              <a:t>Стрелочные функции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5A24E0-DD7F-41A1-9031-99A81F86C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74" y="837581"/>
            <a:ext cx="5725526" cy="39362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9AF4244-E764-460C-9062-4AB5A671B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578" y="837581"/>
            <a:ext cx="5768714" cy="39362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FEFC059-00CA-40F5-8F3E-873AC44BB67A}"/>
              </a:ext>
            </a:extLst>
          </p:cNvPr>
          <p:cNvSpPr txBox="1"/>
          <p:nvPr/>
        </p:nvSpPr>
        <p:spPr>
          <a:xfrm>
            <a:off x="1733798" y="558140"/>
            <a:ext cx="2266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Стрелочная функция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22460E-E7F8-4273-A7CB-97117B874A5B}"/>
              </a:ext>
            </a:extLst>
          </p:cNvPr>
          <p:cNvSpPr txBox="1"/>
          <p:nvPr/>
        </p:nvSpPr>
        <p:spPr>
          <a:xfrm>
            <a:off x="7896740" y="546635"/>
            <a:ext cx="2227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«Обычная» функция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628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623B-BE3C-4E32-80F2-080E93456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74" y="50291"/>
            <a:ext cx="11924251" cy="347532"/>
          </a:xfrm>
        </p:spPr>
        <p:txBody>
          <a:bodyPr>
            <a:normAutofit fontScale="90000"/>
          </a:bodyPr>
          <a:lstStyle/>
          <a:p>
            <a:r>
              <a:rPr lang="ru-RU" dirty="0"/>
              <a:t>Стрелочные функции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1E51F6-BFCA-43C8-BE6B-34A761CB2A88}"/>
              </a:ext>
            </a:extLst>
          </p:cNvPr>
          <p:cNvSpPr txBox="1"/>
          <p:nvPr/>
        </p:nvSpPr>
        <p:spPr>
          <a:xfrm>
            <a:off x="133874" y="1880871"/>
            <a:ext cx="1192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effectLst/>
              </a:rPr>
              <a:t>3. Не могут быть вызваны с </a:t>
            </a:r>
            <a:r>
              <a:rPr lang="ru-RU" b="1" dirty="0" err="1">
                <a:solidFill>
                  <a:srgbClr val="EB5757"/>
                </a:solidFill>
                <a:effectLst/>
                <a:latin typeface="SFMono-Regular"/>
              </a:rPr>
              <a:t>new</a:t>
            </a:r>
            <a:r>
              <a:rPr lang="ru-RU" b="1" dirty="0">
                <a:effectLst/>
              </a:rPr>
              <a:t>: </a:t>
            </a:r>
            <a:r>
              <a:rPr lang="ru-RU" dirty="0"/>
              <a:t>Стрелочные функции не могут быть использованы как конструкторы для создания </a:t>
            </a:r>
            <a:br>
              <a:rPr lang="ru-RU" dirty="0"/>
            </a:br>
            <a:r>
              <a:rPr lang="ru-RU" dirty="0"/>
              <a:t>экземпляров объектов.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4B5959-75F2-4A34-B318-D2AD7A254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74" y="3429000"/>
            <a:ext cx="4095750" cy="18002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B9D7C5-D5A3-442F-853B-7A1B79DE1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7844" y="3429000"/>
            <a:ext cx="7467600" cy="14859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596342-8BBE-4DE9-8053-5E05E87215C1}"/>
              </a:ext>
            </a:extLst>
          </p:cNvPr>
          <p:cNvSpPr txBox="1"/>
          <p:nvPr/>
        </p:nvSpPr>
        <p:spPr>
          <a:xfrm>
            <a:off x="873200" y="2920134"/>
            <a:ext cx="2072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Обычная функция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31AC4F-F280-4751-892F-F12D55102369}"/>
              </a:ext>
            </a:extLst>
          </p:cNvPr>
          <p:cNvSpPr txBox="1"/>
          <p:nvPr/>
        </p:nvSpPr>
        <p:spPr>
          <a:xfrm>
            <a:off x="7108360" y="3049851"/>
            <a:ext cx="2335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Стрелочная функция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299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623B-BE3C-4E32-80F2-080E93456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74" y="50291"/>
            <a:ext cx="11924251" cy="347532"/>
          </a:xfrm>
        </p:spPr>
        <p:txBody>
          <a:bodyPr>
            <a:normAutofit fontScale="90000"/>
          </a:bodyPr>
          <a:lstStyle/>
          <a:p>
            <a:r>
              <a:rPr lang="ru-RU" dirty="0"/>
              <a:t>Стрелочные функции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518348-8314-4518-9D80-63873702F50D}"/>
              </a:ext>
            </a:extLst>
          </p:cNvPr>
          <p:cNvSpPr txBox="1"/>
          <p:nvPr/>
        </p:nvSpPr>
        <p:spPr>
          <a:xfrm>
            <a:off x="133874" y="538269"/>
            <a:ext cx="119242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effectLst/>
              </a:rPr>
              <a:t>4. Не имеют </a:t>
            </a:r>
            <a:r>
              <a:rPr lang="ru-RU" b="1" dirty="0" err="1">
                <a:solidFill>
                  <a:srgbClr val="EB5757"/>
                </a:solidFill>
                <a:effectLst/>
                <a:latin typeface="SFMono-Regular"/>
              </a:rPr>
              <a:t>arguments</a:t>
            </a:r>
            <a:r>
              <a:rPr lang="ru-RU" b="1" dirty="0">
                <a:effectLst/>
              </a:rPr>
              <a:t>: </a:t>
            </a:r>
            <a:r>
              <a:rPr lang="ru-RU" dirty="0"/>
              <a:t>Стрелочные функции не имеют собственного объекта 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arguments</a:t>
            </a:r>
            <a:r>
              <a:rPr lang="ru-RU" dirty="0"/>
              <a:t>. Они могут использовать 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arguments</a:t>
            </a:r>
            <a:r>
              <a:rPr lang="ru-RU" dirty="0"/>
              <a:t> из родительской функции, если таковая существует.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DBF089-B463-45AE-B816-2A9E8F9A1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617" y="1520509"/>
            <a:ext cx="4362450" cy="17240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4AFBD2-1927-4E21-A2DD-A0EB2E8B2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810" y="1520509"/>
            <a:ext cx="6505575" cy="18002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6243908-2A26-49F8-8CDD-7E454C8314C9}"/>
              </a:ext>
            </a:extLst>
          </p:cNvPr>
          <p:cNvSpPr txBox="1"/>
          <p:nvPr/>
        </p:nvSpPr>
        <p:spPr>
          <a:xfrm>
            <a:off x="1315690" y="1184600"/>
            <a:ext cx="2072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Обычная функция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F028C3-AB1F-495C-912C-FC336A0BB95B}"/>
              </a:ext>
            </a:extLst>
          </p:cNvPr>
          <p:cNvSpPr txBox="1"/>
          <p:nvPr/>
        </p:nvSpPr>
        <p:spPr>
          <a:xfrm>
            <a:off x="7154884" y="1184600"/>
            <a:ext cx="2414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Стрелочная функция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BC003D-44DB-4831-A088-C9B474BCE144}"/>
              </a:ext>
            </a:extLst>
          </p:cNvPr>
          <p:cNvSpPr txBox="1"/>
          <p:nvPr/>
        </p:nvSpPr>
        <p:spPr>
          <a:xfrm>
            <a:off x="133873" y="3429000"/>
            <a:ext cx="119242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Однако, если стрелочная функция находится внутри обычной функции, она может использовать 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arguments</a:t>
            </a:r>
            <a:r>
              <a:rPr lang="ru-RU" dirty="0"/>
              <a:t> родительской функции: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B9A278-A6B3-43C4-8948-7A41AB9C3F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9018" y="4183597"/>
            <a:ext cx="779145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229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623B-BE3C-4E32-80F2-080E93456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74" y="50291"/>
            <a:ext cx="11924251" cy="347532"/>
          </a:xfrm>
        </p:spPr>
        <p:txBody>
          <a:bodyPr>
            <a:normAutofit fontScale="90000"/>
          </a:bodyPr>
          <a:lstStyle/>
          <a:p>
            <a:r>
              <a:rPr lang="ru-RU" dirty="0"/>
              <a:t>Стрелочные функции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518348-8314-4518-9D80-63873702F50D}"/>
              </a:ext>
            </a:extLst>
          </p:cNvPr>
          <p:cNvSpPr txBox="1"/>
          <p:nvPr/>
        </p:nvSpPr>
        <p:spPr>
          <a:xfrm>
            <a:off x="133874" y="538269"/>
            <a:ext cx="119242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</a:rPr>
              <a:t>5. </a:t>
            </a:r>
            <a:r>
              <a:rPr lang="ru-RU" b="1" dirty="0">
                <a:effectLst/>
              </a:rPr>
              <a:t>Не поддерживают </a:t>
            </a:r>
            <a:r>
              <a:rPr lang="ru-RU" b="1" dirty="0" err="1">
                <a:solidFill>
                  <a:srgbClr val="EB5757"/>
                </a:solidFill>
                <a:effectLst/>
                <a:latin typeface="SFMono-Regular"/>
              </a:rPr>
              <a:t>super</a:t>
            </a:r>
            <a:r>
              <a:rPr lang="ru-RU" b="1" dirty="0">
                <a:effectLst/>
              </a:rPr>
              <a:t>: </a:t>
            </a:r>
            <a:r>
              <a:rPr lang="ru-RU" dirty="0"/>
              <a:t>Стрелочные функции не имеют собственного ключевого слова 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super</a:t>
            </a:r>
            <a:r>
              <a:rPr lang="ru-RU" dirty="0"/>
              <a:t> и не могут использоваться в качестве методов объекта.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243908-2A26-49F8-8CDD-7E454C8314C9}"/>
              </a:ext>
            </a:extLst>
          </p:cNvPr>
          <p:cNvSpPr txBox="1"/>
          <p:nvPr/>
        </p:nvSpPr>
        <p:spPr>
          <a:xfrm>
            <a:off x="1315690" y="1184600"/>
            <a:ext cx="2072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Обычная функция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F028C3-AB1F-495C-912C-FC336A0BB95B}"/>
              </a:ext>
            </a:extLst>
          </p:cNvPr>
          <p:cNvSpPr txBox="1"/>
          <p:nvPr/>
        </p:nvSpPr>
        <p:spPr>
          <a:xfrm>
            <a:off x="7154884" y="1184600"/>
            <a:ext cx="2414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Стрелочная функция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37631F-16EE-41DC-A0DD-648A1327E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74" y="1553932"/>
            <a:ext cx="5825944" cy="28585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4C05CE-75C6-41FB-B43E-3D92D8256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862" y="1604732"/>
            <a:ext cx="6046263" cy="351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895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623B-BE3C-4E32-80F2-080E93456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74" y="50291"/>
            <a:ext cx="11924251" cy="347532"/>
          </a:xfrm>
        </p:spPr>
        <p:txBody>
          <a:bodyPr>
            <a:normAutofit fontScale="90000"/>
          </a:bodyPr>
          <a:lstStyle/>
          <a:p>
            <a:r>
              <a:rPr lang="en-US" dirty="0"/>
              <a:t>Var, let, const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4EE00D-5A78-4026-A502-42D4ABCD8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277" y="2185987"/>
            <a:ext cx="5248275" cy="248602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E8BA64B-30F7-4C97-9262-09B55A09174B}"/>
              </a:ext>
            </a:extLst>
          </p:cNvPr>
          <p:cNvSpPr txBox="1"/>
          <p:nvPr/>
        </p:nvSpPr>
        <p:spPr>
          <a:xfrm>
            <a:off x="176706" y="4759188"/>
            <a:ext cx="11924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var</a:t>
            </a:r>
            <a:r>
              <a:rPr lang="ru-RU" dirty="0"/>
              <a:t> позволяет поднимать переменные и на них можно ссылаться в коде до их объявления. 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ECDF2F-5420-4158-A8F5-30831A310393}"/>
              </a:ext>
            </a:extLst>
          </p:cNvPr>
          <p:cNvSpPr txBox="1"/>
          <p:nvPr/>
        </p:nvSpPr>
        <p:spPr>
          <a:xfrm>
            <a:off x="176708" y="5128520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let</a:t>
            </a:r>
            <a:r>
              <a:rPr lang="ru-RU" dirty="0"/>
              <a:t> 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const</a:t>
            </a:r>
            <a:r>
              <a:rPr lang="ru-RU" dirty="0"/>
              <a:t> не позволяют этого и выдают ошибку.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A1660E-2841-4818-808D-B64AB153889E}"/>
              </a:ext>
            </a:extLst>
          </p:cNvPr>
          <p:cNvSpPr txBox="1"/>
          <p:nvPr/>
        </p:nvSpPr>
        <p:spPr>
          <a:xfrm>
            <a:off x="176708" y="5497852"/>
            <a:ext cx="11924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let</a:t>
            </a:r>
            <a:r>
              <a:rPr lang="ru-RU" dirty="0"/>
              <a:t> отличается от 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const</a:t>
            </a:r>
            <a:r>
              <a:rPr lang="ru-RU" dirty="0"/>
              <a:t> тем, что изменять значение 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const</a:t>
            </a:r>
            <a:r>
              <a:rPr lang="ru-RU" dirty="0"/>
              <a:t> нельзя.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375E44-3EEC-4BA8-890E-5B9E256A32E0}"/>
              </a:ext>
            </a:extLst>
          </p:cNvPr>
          <p:cNvSpPr txBox="1"/>
          <p:nvPr/>
        </p:nvSpPr>
        <p:spPr>
          <a:xfrm>
            <a:off x="176706" y="1360148"/>
            <a:ext cx="119670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let</a:t>
            </a:r>
            <a:r>
              <a:rPr lang="ru-RU" dirty="0"/>
              <a:t> и 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const</a:t>
            </a:r>
            <a:r>
              <a:rPr lang="ru-RU" dirty="0"/>
              <a:t> относятся к блочной области видимости — это означает, что они доступны только в пределах ближайшего набора фигурных скобок (функция, блок </a:t>
            </a:r>
            <a:r>
              <a:rPr lang="ru-RU" dirty="0" err="1"/>
              <a:t>if-else</a:t>
            </a:r>
            <a:r>
              <a:rPr lang="ru-RU" dirty="0"/>
              <a:t> или цикл </a:t>
            </a:r>
            <a:r>
              <a:rPr lang="ru-RU" dirty="0" err="1"/>
              <a:t>for</a:t>
            </a:r>
            <a:r>
              <a:rPr lang="ru-RU" dirty="0"/>
              <a:t>).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4285C8-539D-492F-83E6-01CF8BAF7BA6}"/>
              </a:ext>
            </a:extLst>
          </p:cNvPr>
          <p:cNvSpPr txBox="1"/>
          <p:nvPr/>
        </p:nvSpPr>
        <p:spPr>
          <a:xfrm>
            <a:off x="133876" y="484999"/>
            <a:ext cx="119242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Переменные, объявленные при помощи ключевого слова 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var</a:t>
            </a:r>
            <a:r>
              <a:rPr lang="ru-RU" dirty="0"/>
              <a:t>, относятся к области видимости функции, в которой они созданы. Или, если они созданы вне какой-либо функции, — к глобальному объекту.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548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623B-BE3C-4E32-80F2-080E93456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74" y="50291"/>
            <a:ext cx="11924251" cy="347532"/>
          </a:xfrm>
        </p:spPr>
        <p:txBody>
          <a:bodyPr>
            <a:normAutofit fontScale="90000"/>
          </a:bodyPr>
          <a:lstStyle/>
          <a:p>
            <a:r>
              <a:rPr lang="en-US" dirty="0"/>
              <a:t>JSON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CD499C-D879-4B01-BFF5-CB4E911E8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111" y="620183"/>
            <a:ext cx="5057775" cy="26479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8C6CA32-000B-4E33-BFE6-C95B7EF3F106}"/>
              </a:ext>
            </a:extLst>
          </p:cNvPr>
          <p:cNvSpPr txBox="1"/>
          <p:nvPr/>
        </p:nvSpPr>
        <p:spPr>
          <a:xfrm>
            <a:off x="133874" y="3429000"/>
            <a:ext cx="119242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JSON (JavaScript Object </a:t>
            </a:r>
            <a:r>
              <a:rPr lang="ru-RU" dirty="0" err="1"/>
              <a:t>Notation</a:t>
            </a:r>
            <a:r>
              <a:rPr lang="ru-RU" dirty="0"/>
              <a:t>) – это общий формат для представления значений и объектов. Его описание задокументировано в стандарте RFC 4627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99A7CA-BF9C-4E30-A6AE-10AD0463117A}"/>
              </a:ext>
            </a:extLst>
          </p:cNvPr>
          <p:cNvSpPr txBox="1"/>
          <p:nvPr/>
        </p:nvSpPr>
        <p:spPr>
          <a:xfrm>
            <a:off x="133874" y="422573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JavaScript </a:t>
            </a:r>
            <a:r>
              <a:rPr lang="ru-RU" dirty="0"/>
              <a:t>предоставляет методы:</a:t>
            </a:r>
            <a:endParaRPr lang="en-US" dirty="0"/>
          </a:p>
          <a:p>
            <a:pPr marL="342900" indent="-342900">
              <a:buAutoNum type="arabicPeriod"/>
            </a:pP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JSON.stringify</a:t>
            </a:r>
            <a:r>
              <a:rPr lang="ru-RU" dirty="0"/>
              <a:t> для преобразования объектов в JSON.</a:t>
            </a:r>
            <a:endParaRPr lang="en-US" dirty="0"/>
          </a:p>
          <a:p>
            <a:pPr marL="342900" indent="-342900">
              <a:buAutoNum type="arabicPeriod"/>
            </a:pP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JSON.parse</a:t>
            </a:r>
            <a:r>
              <a:rPr lang="ru-RU" dirty="0"/>
              <a:t> для преобразования JSON обратно в объект.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772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623B-BE3C-4E32-80F2-080E93456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74" y="50291"/>
            <a:ext cx="11924251" cy="34753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JSON.stringify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CEB847-4B1D-4C79-9AF8-AB7B743B5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775" y="776287"/>
            <a:ext cx="4362450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568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623B-BE3C-4E32-80F2-080E93456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74" y="50291"/>
            <a:ext cx="11924251" cy="34753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JSON.parse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805905-9AC3-42CE-9E30-5C0000990518}"/>
              </a:ext>
            </a:extLst>
          </p:cNvPr>
          <p:cNvSpPr txBox="1"/>
          <p:nvPr/>
        </p:nvSpPr>
        <p:spPr>
          <a:xfrm>
            <a:off x="92308" y="1177413"/>
            <a:ext cx="11924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JSON.parse</a:t>
            </a:r>
            <a:r>
              <a:rPr lang="ru-RU" dirty="0"/>
              <a:t> Работает наоборот. Он берет строку и приводит её к JS Объекту.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D829F6-00D6-4427-81FA-E46B0818C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509" y="1743075"/>
            <a:ext cx="7943850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061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623B-BE3C-4E32-80F2-080E93456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74" y="50291"/>
            <a:ext cx="11924251" cy="347532"/>
          </a:xfrm>
        </p:spPr>
        <p:txBody>
          <a:bodyPr>
            <a:normAutofit fontScale="90000"/>
          </a:bodyPr>
          <a:lstStyle/>
          <a:p>
            <a:r>
              <a:rPr lang="en-US" dirty="0"/>
              <a:t>i18n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FACB6-2AE8-49B2-8FAE-785412A4C0D1}"/>
              </a:ext>
            </a:extLst>
          </p:cNvPr>
          <p:cNvSpPr txBox="1"/>
          <p:nvPr/>
        </p:nvSpPr>
        <p:spPr>
          <a:xfrm>
            <a:off x="133874" y="471671"/>
            <a:ext cx="119242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/>
              <a:t>I18n (</a:t>
            </a:r>
            <a:r>
              <a:rPr lang="ru-RU" sz="1600" b="1" dirty="0" err="1"/>
              <a:t>Internationalization</a:t>
            </a:r>
            <a:r>
              <a:rPr lang="ru-RU" sz="1600" b="1" dirty="0"/>
              <a:t>) </a:t>
            </a:r>
            <a:r>
              <a:rPr lang="ru-RU" sz="1600" dirty="0"/>
              <a:t>— это процесс адаптации программного обеспечения или веб-приложений для поддержки различных языков и культур. Число 18 в аббревиатуре означает количество букв между первой буквой "I" и последней "n" в слове </a:t>
            </a:r>
            <a:r>
              <a:rPr lang="ru-RU" sz="1600" i="1" dirty="0" err="1">
                <a:effectLst/>
              </a:rPr>
              <a:t>internationalization</a:t>
            </a:r>
            <a:r>
              <a:rPr lang="ru-RU" sz="1600" dirty="0"/>
              <a:t>.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E293B1-3086-41B4-A9CE-37006B26C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74" y="1376516"/>
            <a:ext cx="8356600" cy="28392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95B864-6415-45E6-895A-31D5DE520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957" y="3320921"/>
            <a:ext cx="6673034" cy="313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848736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277</TotalTime>
  <Words>555</Words>
  <Application>Microsoft Office PowerPoint</Application>
  <PresentationFormat>Widescreen</PresentationFormat>
  <Paragraphs>57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Corbel</vt:lpstr>
      <vt:lpstr>Gill Sans MT</vt:lpstr>
      <vt:lpstr>SFMono-Regular</vt:lpstr>
      <vt:lpstr>Parcel</vt:lpstr>
      <vt:lpstr>11. ECmascript и др.</vt:lpstr>
      <vt:lpstr>ECmascript</vt:lpstr>
      <vt:lpstr>ECmascript</vt:lpstr>
      <vt:lpstr>Деструктуризация { …obj }, […array]</vt:lpstr>
      <vt:lpstr>Деструктуризация { …obj }, […array]</vt:lpstr>
      <vt:lpstr>Деструктуризация { …obj }, […array]</vt:lpstr>
      <vt:lpstr>Деструктуризация { …obj }, […array]</vt:lpstr>
      <vt:lpstr>Стрелочные функции</vt:lpstr>
      <vt:lpstr>Стрелочные функции</vt:lpstr>
      <vt:lpstr>Стрелочные функции</vt:lpstr>
      <vt:lpstr>Стрелочные функции</vt:lpstr>
      <vt:lpstr>Стрелочные функции</vt:lpstr>
      <vt:lpstr>Стрелочные функции</vt:lpstr>
      <vt:lpstr>Var, let, const</vt:lpstr>
      <vt:lpstr>JSON</vt:lpstr>
      <vt:lpstr>JSON.stringify</vt:lpstr>
      <vt:lpstr>JSON.parse</vt:lpstr>
      <vt:lpstr>i18n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9. Javascript. DOM. NPM</dc:title>
  <dc:creator>roman</dc:creator>
  <cp:lastModifiedBy>рома борисов</cp:lastModifiedBy>
  <cp:revision>296</cp:revision>
  <dcterms:created xsi:type="dcterms:W3CDTF">2023-10-23T14:34:16Z</dcterms:created>
  <dcterms:modified xsi:type="dcterms:W3CDTF">2025-10-31T15:57:47Z</dcterms:modified>
</cp:coreProperties>
</file>